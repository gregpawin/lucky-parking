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92d60bd6cd428f" /><Relationship Type="http://schemas.openxmlformats.org/officeDocument/2006/relationships/extended-properties" Target="/docProps/app.xml" Id="Rb7c33c66d7f64142" /><Relationship Type="http://schemas.openxmlformats.org/officeDocument/2006/relationships/officeDocument" Target="/ppt/presentation.xml" Id="R8a49cc4f6762471c" /></Relationships>
</file>

<file path=ppt/presentation.xml><?xml version="1.0" encoding="utf-8"?>
<p:presentation xmlns:p="http://schemas.openxmlformats.org/presentationml/2006/main">
  <p:sldMasterIdLst>
    <p:sldMasterId xmlns:r="http://schemas.openxmlformats.org/officeDocument/2006/relationships" id="2147483648" r:id="R6963814c829d4b7f"/>
  </p:sldMasterIdLst>
  <p:notesMasterIdLst>
    <p:notesMasterId xmlns:r="http://schemas.openxmlformats.org/officeDocument/2006/relationships" r:id="R4137d304628b4f16"/>
  </p:notesMasterIdLst>
  <p:sldIdLst>
    <p:sldId xmlns:r="http://schemas.openxmlformats.org/officeDocument/2006/relationships" id="256" r:id="Rdee7e26df3d1430e"/>
    <p:sldId xmlns:r="http://schemas.openxmlformats.org/officeDocument/2006/relationships" id="257" r:id="R4e9a785655a946b1"/>
    <p:sldId xmlns:r="http://schemas.openxmlformats.org/officeDocument/2006/relationships" id="258" r:id="Reb2be5527e744b94"/>
    <p:sldId xmlns:r="http://schemas.openxmlformats.org/officeDocument/2006/relationships" id="259" r:id="R40346a9f6e3d40d6"/>
    <p:sldId xmlns:r="http://schemas.openxmlformats.org/officeDocument/2006/relationships" id="260" r:id="R506a0ec8312e4e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aab3893bcb49d6" /><Relationship Type="http://schemas.openxmlformats.org/officeDocument/2006/relationships/slideMaster" Target="/ppt/slideMasters/slideMaster1.xml" Id="R6963814c829d4b7f" /><Relationship Type="http://schemas.openxmlformats.org/officeDocument/2006/relationships/notesMaster" Target="/ppt/notesMasters/notesMaster1.xml" Id="R4137d304628b4f16" /><Relationship Type="http://schemas.openxmlformats.org/officeDocument/2006/relationships/presProps" Target="/ppt/presProps.xml" Id="Rc02b08f71bec428a" /><Relationship Type="http://schemas.openxmlformats.org/officeDocument/2006/relationships/tableStyles" Target="/ppt/tableStyles.xml" Id="Rad869bb9996f4f99" /><Relationship Type="http://schemas.openxmlformats.org/officeDocument/2006/relationships/slide" Target="/ppt/slides/slide1.xml" Id="Rdee7e26df3d1430e" /><Relationship Type="http://schemas.openxmlformats.org/officeDocument/2006/relationships/slide" Target="/ppt/slides/slide2.xml" Id="R4e9a785655a946b1" /><Relationship Type="http://schemas.openxmlformats.org/officeDocument/2006/relationships/slide" Target="/ppt/slides/slide3.xml" Id="Reb2be5527e744b94" /><Relationship Type="http://schemas.openxmlformats.org/officeDocument/2006/relationships/slide" Target="/ppt/slides/slide4.xml" Id="R40346a9f6e3d40d6" /><Relationship Type="http://schemas.openxmlformats.org/officeDocument/2006/relationships/slide" Target="/ppt/slides/slide5.xml" Id="R506a0ec8312e4e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103c36117c43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2e3c540dab14a0f" /><Relationship Type="http://schemas.openxmlformats.org/officeDocument/2006/relationships/notesMaster" Target="/ppt/notesMasters/notesMaster1.xml" Id="R6d6abb29f7934cd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41992685aa49e0" /><Relationship Type="http://schemas.openxmlformats.org/officeDocument/2006/relationships/notesMaster" Target="/ppt/notesMasters/notesMaster1.xml" Id="Re6b276a76b1b48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b36568532fa47f8" /><Relationship Type="http://schemas.openxmlformats.org/officeDocument/2006/relationships/notesMaster" Target="/ppt/notesMasters/notesMaster1.xml" Id="Rfdb53af157ee4a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ed13952f49045cd" /><Relationship Type="http://schemas.openxmlformats.org/officeDocument/2006/relationships/notesMaster" Target="/ppt/notesMasters/notesMaster1.xml" Id="R8e1d97dbf8ac45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94d98578af4ec9" /><Relationship Type="http://schemas.openxmlformats.org/officeDocument/2006/relationships/notesMaster" Target="/ppt/notesMasters/notesMaster1.xml" Id="Rab04f5b65e384a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website always calls its own Next.js server route. That server calls FastAPI, which queries PostGIS. These are deployment modes of shared code, not three independently maintained applications. Current local verification used 200,000 citation rows. The separate web_sheet explorer is diagnostic; apps/web is the main website. The old Express/MongoDB API is outside these workflows.</a:t>
            </a:r>
          </a:p>
          <a:p xmlns:a="http://schemas.openxmlformats.org/drawingml/2006/main">
            <a:r>
              <a:t/>
            </a:r>
          </a:p>
          <a:p xmlns:a="http://schemas.openxmlformats.org/drawingml/2006/main">
            <a:r>
              <a:t>Status as of October 19, 2026.</a:t>
            </a:r>
          </a:p>
          <a:p xmlns:a="http://schemas.openxmlformats.org/drawingml/2006/main">
            <a:r>
              <a:t>Project sources:</a:t>
            </a:r>
          </a:p>
          <a:p xmlns:a="http://schemas.openxmlformats.org/drawingml/2006/main">
            <a:r>
              <a:t>apps/data-service/deploy/README.md</a:t>
            </a:r>
          </a:p>
          <a:p xmlns:a="http://schemas.openxmlformats.org/drawingml/2006/main">
            <a:r>
              <a:t>apps/data-service/deploy/local/README.md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Docker stack also includes the separate diagnostic explorer. Verification covered a clean database initialization, a CSV sample import, all six chart types, point-radius queries, overlapping selections, pagination, and a browser request through the website. The sample is not the complete city dataset. Marker truncation is explicit in the UI. A Mapbox public token is required for the basemap; token configuration does not itself prove map rendering. No cloud services have been provisioned in this phase.</a:t>
            </a:r>
          </a:p>
          <a:p xmlns:a="http://schemas.openxmlformats.org/drawingml/2006/main">
            <a:r>
              <a:t/>
            </a:r>
          </a:p>
          <a:p xmlns:a="http://schemas.openxmlformats.org/drawingml/2006/main">
            <a:r>
              <a:t>Status as of October 19, 2026.</a:t>
            </a:r>
          </a:p>
          <a:p xmlns:a="http://schemas.openxmlformats.org/drawingml/2006/main">
            <a:r>
              <a:t>Project sources:</a:t>
            </a:r>
          </a:p>
          <a:p xmlns:a="http://schemas.openxmlformats.org/drawingml/2006/main">
            <a:r>
              <a:t>apps/data-service/deploy/local/README.md</a:t>
            </a:r>
          </a:p>
          <a:p xmlns:a="http://schemas.openxmlformats.org/drawingml/2006/main">
            <a:r>
              <a:t>apps/data-service/api/README.md</a:t>
            </a:r>
          </a:p>
          <a:p xmlns:a="http://schemas.openxmlformats.org/drawingml/2006/main">
            <a:r>
              <a:t>apps/data-service/tests/test_website_integration.py</a:t>
            </a:r>
          </a:p>
          <a:p xmlns:a="http://schemas.openxmlformats.org/drawingml/2006/main">
            <a:r>
              <a:t>Local implementation validation recorded in this chat, October 19,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runtime architecture. The website proxy already supports a configurable API URL and a server-only key, but the cloud service is not deployed or integration-tested. Browser requests remain same-origin to the locally hosted website. The key travels from Next.js to FastAPI, not from browser JavaScript. Remaining work includes supported database images, restore validation, consumer key provisioning, HTTPS, rate-limit behavior, and website acceptance tests against the hosted service.</a:t>
            </a:r>
          </a:p>
          <a:p xmlns:a="http://schemas.openxmlformats.org/drawingml/2006/main">
            <a:r>
              <a:t/>
            </a:r>
          </a:p>
          <a:p xmlns:a="http://schemas.openxmlformats.org/drawingml/2006/main">
            <a:r>
              <a:t>Status as of October 19, 2026.</a:t>
            </a:r>
          </a:p>
          <a:p xmlns:a="http://schemas.openxmlformats.org/drawingml/2006/main">
            <a:r>
              <a:t>Project sources:</a:t>
            </a:r>
          </a:p>
          <a:p xmlns:a="http://schemas.openxmlformats.org/drawingml/2006/main">
            <a:r>
              <a:t>apps/data-service/deploy/local-web-cloud-data/README.md</a:t>
            </a:r>
          </a:p>
          <a:p xmlns:a="http://schemas.openxmlformats.org/drawingml/2006/main">
            <a:r>
              <a:t>apps/data-service/deploy/local-web-cloud-data/.env.example</a:t>
            </a:r>
          </a:p>
          <a:p xmlns:a="http://schemas.openxmlformats.org/drawingml/2006/main">
            <a:r>
              <a:t>apps/web/src/app/api/v1/citations/route.ts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is a target design, not a currently deployed system. The cloud boundary groups logical hosted components and does not require a single machine. Caddy is in the earlier VPS draft; another hosting platform can terminate website HTTPS. Remaining work includes a supported database container base, full deployment acceptance tests, production credentials, domains/TLS, restricted database permissions, database backups and recovery tests, and data-refresh operations. No uptime or traffic capacity claim is established.</a:t>
            </a:r>
          </a:p>
          <a:p xmlns:a="http://schemas.openxmlformats.org/drawingml/2006/main">
            <a:r>
              <a:t/>
            </a:r>
          </a:p>
          <a:p xmlns:a="http://schemas.openxmlformats.org/drawingml/2006/main">
            <a:r>
              <a:t>Status as of October 19, 2026.</a:t>
            </a:r>
          </a:p>
          <a:p xmlns:a="http://schemas.openxmlformats.org/drawingml/2006/main">
            <a:r>
              <a:t>Project sources:</a:t>
            </a:r>
          </a:p>
          <a:p xmlns:a="http://schemas.openxmlformats.org/drawingml/2006/main">
            <a:r>
              <a:t>apps/data-service/deploy/cloud/README.md</a:t>
            </a:r>
          </a:p>
          <a:p xmlns:a="http://schemas.openxmlformats.org/drawingml/2006/main">
            <a:r>
              <a:t>apps/data-service/deploy/VPS.md</a:t>
            </a:r>
          </a:p>
          <a:p xmlns:a="http://schemas.openxmlformats.org/drawingml/2006/main">
            <a:r>
              <a:t>apps/data-service/docker-compose.prod.yml</a:t>
            </a:r>
          </a:p>
          <a:p xmlns:a="http://schemas.openxmlformats.org/drawingml/2006/main">
            <a:r>
              <a:t>apps/data-service/deploy/Caddyfile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pg_dump file is a portable database backup. It is not a copy of the live Docker volume or a SQLite database file. PostgreSQL recreates tables and indexes during restore, so restore needs time and disk space. The repository has dump/restore instructions and scripts, but the cloud workflow has not been exercised here. The Socrata probe defaults to dry-run; its insert-only and early-stop behavior needs validation before automated production refresh. Keep secrets and large data artifacts out of source control.</a:t>
            </a:r>
          </a:p>
          <a:p xmlns:a="http://schemas.openxmlformats.org/drawingml/2006/main">
            <a:r>
              <a:t/>
            </a:r>
          </a:p>
          <a:p xmlns:a="http://schemas.openxmlformats.org/drawingml/2006/main">
            <a:r>
              <a:t>Status as of October 19, 2026.</a:t>
            </a:r>
          </a:p>
          <a:p xmlns:a="http://schemas.openxmlformats.org/drawingml/2006/main">
            <a:r>
              <a:t>Project sources:</a:t>
            </a:r>
          </a:p>
          <a:p xmlns:a="http://schemas.openxmlformats.org/drawingml/2006/main">
            <a:r>
              <a:t>apps/data-service/deploy/VPS.md</a:t>
            </a:r>
          </a:p>
          <a:p xmlns:a="http://schemas.openxmlformats.org/drawingml/2006/main">
            <a:r>
              <a:t>apps/data-service/scripts/prod_restore.sh</a:t>
            </a:r>
          </a:p>
          <a:p xmlns:a="http://schemas.openxmlformats.org/drawingml/2006/main">
            <a:r>
              <a:t>apps/data-service/scripts/test_socrata_sync.py</a:t>
            </a:r>
          </a:p>
          <a:p xmlns:a="http://schemas.openxmlformats.org/drawingml/2006/main">
            <a:r>
              <a:t>apps/data-service/deploy/cloud/README.md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9e801fd6a245a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b1c773241043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2c6f7a168a64b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9dfe950436145c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6c96c65a13142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3406ab326d47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10B9D4-EF4E-493E-AB93-68E2E219328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44CB4F-147F-4F01-A1BB-AC5E57ABE3C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ED78D8-DDC6-4422-9BA7-7504438E10D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707231-725E-434F-971F-B91FA70591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5B23875-5AED-40A2-906B-AA7154DC3B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FCC79D-8167-489D-B7D7-C3F4702F8A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568DF2-8C87-4FE5-A246-725FD49B6A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8AD6E43-D416-4816-8147-F6304864A1F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EA3827-B7BA-4618-883D-1754411005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C1742B-2E5E-48F9-A456-8C35EEBAF4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f0032002b04fe9" /><Relationship Type="http://schemas.openxmlformats.org/officeDocument/2006/relationships/slideLayout" Target="/ppt/slideLayouts/slideLayout1.xml" Id="Rd5be67559da641fe" /><Relationship Type="http://schemas.openxmlformats.org/officeDocument/2006/relationships/slideLayout" Target="/ppt/slideLayouts/slideLayout2.xml" Id="R1bc6b80a091b4548" /><Relationship Type="http://schemas.openxmlformats.org/officeDocument/2006/relationships/slideLayout" Target="/ppt/slideLayouts/slideLayout3.xml" Id="Rf68c6988be7c4d8e" /><Relationship Type="http://schemas.openxmlformats.org/officeDocument/2006/relationships/slideLayout" Target="/ppt/slideLayouts/slideLayout4.xml" Id="R7febc07c30ef41a8" /><Relationship Type="http://schemas.openxmlformats.org/officeDocument/2006/relationships/slideLayout" Target="/ppt/slideLayouts/slideLayout5.xml" Id="R1a4290b0830046e9" /><Relationship Type="http://schemas.openxmlformats.org/officeDocument/2006/relationships/slideLayout" Target="/ppt/slideLayouts/slideLayout6.xml" Id="R625c382f9fb54d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be67559da641fe"/>
    <p:sldLayoutId xmlns:r="http://schemas.openxmlformats.org/officeDocument/2006/relationships" id="2147483650" r:id="R1bc6b80a091b4548"/>
    <p:sldLayoutId xmlns:r="http://schemas.openxmlformats.org/officeDocument/2006/relationships" id="2147483651" r:id="Rf68c6988be7c4d8e"/>
    <p:sldLayoutId xmlns:r="http://schemas.openxmlformats.org/officeDocument/2006/relationships" id="2147483652" r:id="R7febc07c30ef41a8"/>
    <p:sldLayoutId xmlns:r="http://schemas.openxmlformats.org/officeDocument/2006/relationships" id="2147483653" r:id="R1a4290b0830046e9"/>
    <p:sldLayoutId xmlns:r="http://schemas.openxmlformats.org/officeDocument/2006/relationships" id="2147483654" r:id="R625c382f9fb54d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6bf24ba42a4da8" /><Relationship Type="http://schemas.openxmlformats.org/officeDocument/2006/relationships/notesSlide" Target="/ppt/notesSlides/notesSlide1.xml" Id="Rba84b5c68c4a4c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6966d8a750a455e" /><Relationship Type="http://schemas.openxmlformats.org/officeDocument/2006/relationships/notesSlide" Target="/ppt/notesSlides/notesSlide2.xml" Id="R198495547f7f4f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30bebd044cd46b8" /><Relationship Type="http://schemas.openxmlformats.org/officeDocument/2006/relationships/notesSlide" Target="/ppt/notesSlides/notesSlide3.xml" Id="R842b360d5bc64e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174e741e9e74b7d" /><Relationship Type="http://schemas.openxmlformats.org/officeDocument/2006/relationships/notesSlide" Target="/ppt/notesSlides/notesSlide4.xml" Id="Rde2b186c406442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0acb13507124c2c" /><Relationship Type="http://schemas.openxmlformats.org/officeDocument/2006/relationships/notesSlide" Target="/ppt/notesSlides/notesSlide5.xml" Id="R2f8d66c3c16d4c5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95237E1-C171-4BD5-95DB-C349F7AAC1F0}"/>
              </a:ext>
            </a:extLst>
          </p:cNvPr>
          <p:cNvSpPr>
            <a:spLocks xmlns:a="http://schemas.openxmlformats.org/drawingml/2006/main" noGrp="1"/>
          </p:cNvSpPr>
          <p:nvPr/>
        </p:nvSpPr>
        <p:spPr>
          <a:xfrm xmlns:a="http://schemas.openxmlformats.org/drawingml/2006/main">
            <a:off x="533400" y="38100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4200" b="1">
                <a:solidFill>
                  <a:srgbClr val="152D3A"/>
                </a:solidFill>
                <a:latin typeface="Arial"/>
                <a:ea typeface="Arial"/>
                <a:cs typeface="Arial"/>
              </a:defRPr>
            </a:defPPr>
            <a:lvl1pPr algn="l">
              <a:defRPr sz="4200" b="1">
                <a:solidFill>
                  <a:srgbClr val="152D3A"/>
                </a:solidFill>
                <a:latin typeface="Arial"/>
                <a:ea typeface="Arial"/>
                <a:cs typeface="Arial"/>
              </a:defRPr>
            </a:lvl1pPr>
            <a:lvl2pPr algn="l">
              <a:defRPr sz="4200" b="1">
                <a:solidFill>
                  <a:srgbClr val="152D3A"/>
                </a:solidFill>
                <a:latin typeface="Arial"/>
                <a:ea typeface="Arial"/>
                <a:cs typeface="Arial"/>
              </a:defRPr>
            </a:lvl2pPr>
            <a:lvl3pPr algn="l">
              <a:defRPr sz="4200" b="1">
                <a:solidFill>
                  <a:srgbClr val="152D3A"/>
                </a:solidFill>
                <a:latin typeface="Arial"/>
                <a:ea typeface="Arial"/>
                <a:cs typeface="Arial"/>
              </a:defRPr>
            </a:lvl3pPr>
            <a:lvl4pPr algn="l">
              <a:defRPr sz="4200" b="1">
                <a:solidFill>
                  <a:srgbClr val="152D3A"/>
                </a:solidFill>
                <a:latin typeface="Arial"/>
                <a:ea typeface="Arial"/>
                <a:cs typeface="Arial"/>
              </a:defRPr>
            </a:lvl4pPr>
            <a:lvl5pPr algn="l">
              <a:defRPr sz="4200" b="1">
                <a:solidFill>
                  <a:srgbClr val="152D3A"/>
                </a:solidFill>
                <a:latin typeface="Arial"/>
                <a:ea typeface="Arial"/>
                <a:cs typeface="Arial"/>
              </a:defRPr>
            </a:lvl5pPr>
            <a:lvl6pPr algn="l">
              <a:defRPr sz="4200" b="1">
                <a:solidFill>
                  <a:srgbClr val="152D3A"/>
                </a:solidFill>
                <a:latin typeface="Arial"/>
                <a:ea typeface="Arial"/>
                <a:cs typeface="Arial"/>
              </a:defRPr>
            </a:lvl6pPr>
            <a:lvl7pPr algn="l">
              <a:defRPr sz="4200" b="1">
                <a:solidFill>
                  <a:srgbClr val="152D3A"/>
                </a:solidFill>
                <a:latin typeface="Arial"/>
                <a:ea typeface="Arial"/>
                <a:cs typeface="Arial"/>
              </a:defRPr>
            </a:lvl7pPr>
            <a:lvl8pPr algn="l">
              <a:defRPr sz="4200" b="1">
                <a:solidFill>
                  <a:srgbClr val="152D3A"/>
                </a:solidFill>
                <a:latin typeface="Arial"/>
                <a:ea typeface="Arial"/>
                <a:cs typeface="Arial"/>
              </a:defRPr>
            </a:lvl8pPr>
            <a:lvl9pPr algn="l">
              <a:defRPr sz="4200" b="1">
                <a:solidFill>
                  <a:srgbClr val="152D3A"/>
                </a:solidFill>
                <a:latin typeface="Arial"/>
                <a:ea typeface="Arial"/>
                <a:cs typeface="Arial"/>
              </a:defRPr>
            </a:lvl9pPr>
          </a:lstStyle>
          <a:p xmlns:a="http://schemas.openxmlformats.org/drawingml/2006/main">
            <a:pPr algn="l">
              <a:defRPr sz="4200" b="1">
                <a:solidFill>
                  <a:srgbClr val="152D3A"/>
                </a:solidFill>
                <a:latin typeface="Arial"/>
                <a:ea typeface="Arial"/>
                <a:cs typeface="Arial"/>
              </a:defRPr>
            </a:pPr>
            <a:r>
              <a:rPr sz="4200" b="1">
                <a:solidFill>
                  <a:srgbClr val="152D3A"/>
                </a:solidFill>
                <a:latin typeface="Arial"/>
                <a:ea typeface="Arial"/>
                <a:cs typeface="Arial"/>
              </a:rPr>
              <a:t>Lucky Parking deployment workflows</a:t>
            </a:r>
          </a:p>
        </p:txBody>
      </p:sp>
      <p:sp>
        <p:nvSpPr>
          <p:cNvPr id="2" name="">
            <a:extLst xmlns:a="http://schemas.openxmlformats.org/drawingml/2006/main">
              <a:ext uri="{FF2B5EF4-FFF2-40B4-BE49-F238E27FC236}">
                <a16:creationId xmlns:a16="http://schemas.microsoft.com/office/drawing/2014/main" id="{9999ECB6-894D-47BA-A9E7-A60891F5A197}"/>
              </a:ext>
            </a:extLst>
          </p:cNvPr>
          <p:cNvSpPr>
            <a:spLocks xmlns:a="http://schemas.openxmlformats.org/drawingml/2006/main" noGrp="1"/>
          </p:cNvSpPr>
          <p:nvPr/>
        </p:nvSpPr>
        <p:spPr>
          <a:xfrm xmlns:a="http://schemas.openxmlformats.org/drawingml/2006/main">
            <a:off x="552450" y="1133475"/>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536673"/>
                </a:solidFill>
                <a:latin typeface="Arial"/>
                <a:ea typeface="Arial"/>
                <a:cs typeface="Arial"/>
              </a:defRPr>
            </a:defPPr>
            <a:lvl1pPr algn="l">
              <a:defRPr sz="1875" b="0">
                <a:solidFill>
                  <a:srgbClr val="536673"/>
                </a:solidFill>
                <a:latin typeface="Arial"/>
                <a:ea typeface="Arial"/>
                <a:cs typeface="Arial"/>
              </a:defRPr>
            </a:lvl1pPr>
            <a:lvl2pPr algn="l">
              <a:defRPr sz="1875" b="0">
                <a:solidFill>
                  <a:srgbClr val="536673"/>
                </a:solidFill>
                <a:latin typeface="Arial"/>
                <a:ea typeface="Arial"/>
                <a:cs typeface="Arial"/>
              </a:defRPr>
            </a:lvl2pPr>
            <a:lvl3pPr algn="l">
              <a:defRPr sz="1875" b="0">
                <a:solidFill>
                  <a:srgbClr val="536673"/>
                </a:solidFill>
                <a:latin typeface="Arial"/>
                <a:ea typeface="Arial"/>
                <a:cs typeface="Arial"/>
              </a:defRPr>
            </a:lvl3pPr>
            <a:lvl4pPr algn="l">
              <a:defRPr sz="1875" b="0">
                <a:solidFill>
                  <a:srgbClr val="536673"/>
                </a:solidFill>
                <a:latin typeface="Arial"/>
                <a:ea typeface="Arial"/>
                <a:cs typeface="Arial"/>
              </a:defRPr>
            </a:lvl4pPr>
            <a:lvl5pPr algn="l">
              <a:defRPr sz="1875" b="0">
                <a:solidFill>
                  <a:srgbClr val="536673"/>
                </a:solidFill>
                <a:latin typeface="Arial"/>
                <a:ea typeface="Arial"/>
                <a:cs typeface="Arial"/>
              </a:defRPr>
            </a:lvl5pPr>
            <a:lvl6pPr algn="l">
              <a:defRPr sz="1875" b="0">
                <a:solidFill>
                  <a:srgbClr val="536673"/>
                </a:solidFill>
                <a:latin typeface="Arial"/>
                <a:ea typeface="Arial"/>
                <a:cs typeface="Arial"/>
              </a:defRPr>
            </a:lvl6pPr>
            <a:lvl7pPr algn="l">
              <a:defRPr sz="1875" b="0">
                <a:solidFill>
                  <a:srgbClr val="536673"/>
                </a:solidFill>
                <a:latin typeface="Arial"/>
                <a:ea typeface="Arial"/>
                <a:cs typeface="Arial"/>
              </a:defRPr>
            </a:lvl7pPr>
            <a:lvl8pPr algn="l">
              <a:defRPr sz="1875" b="0">
                <a:solidFill>
                  <a:srgbClr val="536673"/>
                </a:solidFill>
                <a:latin typeface="Arial"/>
                <a:ea typeface="Arial"/>
                <a:cs typeface="Arial"/>
              </a:defRPr>
            </a:lvl8pPr>
            <a:lvl9pPr algn="l">
              <a:defRPr sz="1875" b="0">
                <a:solidFill>
                  <a:srgbClr val="536673"/>
                </a:solidFill>
                <a:latin typeface="Arial"/>
                <a:ea typeface="Arial"/>
                <a:cs typeface="Arial"/>
              </a:defRPr>
            </a:lvl9pPr>
          </a:lstStyle>
          <a:p xmlns:a="http://schemas.openxmlformats.org/drawingml/2006/main">
            <a:pPr algn="l">
              <a:defRPr sz="1875" b="0">
                <a:solidFill>
                  <a:srgbClr val="536673"/>
                </a:solidFill>
                <a:latin typeface="Arial"/>
                <a:ea typeface="Arial"/>
                <a:cs typeface="Arial"/>
              </a:defRPr>
            </a:pPr>
            <a:r>
              <a:rPr sz="1875" b="0">
                <a:solidFill>
                  <a:srgbClr val="536673"/>
                </a:solidFill>
                <a:latin typeface="Arial"/>
                <a:ea typeface="Arial"/>
                <a:cs typeface="Arial"/>
              </a:rPr>
              <a:t>One shared website and data service; three hosting options</a:t>
            </a:r>
          </a:p>
        </p:txBody>
      </p:sp>
      <p:graphicFrame>
        <p:nvGraphicFramePr>
          <p:cNvPr id="3" name="">
            <a:extLst xmlns:a="http://schemas.openxmlformats.org/drawingml/2006/main">
              <a:ext uri="{FF2B5EF4-FFF2-40B4-BE49-F238E27FC236}">
                <a16:creationId xmlns:a16="http://schemas.microsoft.com/office/drawing/2014/main" id="{C7F4F42F-A98C-4FFF-AFC4-9FA869B3A62A}"/>
              </a:ext>
            </a:extLst>
          </p:cNvPr>
          <p:cNvGraphicFramePr/>
          <p:nvPr/>
        </p:nvGraphicFramePr>
        <p:xfrm>
          <a:off xmlns:a="http://schemas.openxmlformats.org/drawingml/2006/main" x="552450" y="1952625"/>
          <a:ext xmlns:a="http://schemas.openxmlformats.org/drawingml/2006/main" cx="11087100" cy="2781300"/>
        </p:xfrm>
        <a:graphic xmlns:a="http://schemas.openxmlformats.org/drawingml/2006/main">
          <a:graphicData uri="http://schemas.openxmlformats.org/drawingml/2006/table">
            <a:tbl>
              <a:tblPr/>
              <a:tblGrid>
                <a:gridCol w="3619500"/>
                <a:gridCol w="1714500"/>
                <a:gridCol w="2143125"/>
                <a:gridCol w="3609975"/>
              </a:tblGrid>
              <a:tr h="552450">
                <a:tc>
                  <a:txBody>
                    <a:bodyPr lIns="114300" tIns="114300" rIns="114300" bIns="114300"/>
                    <a:lstStyle/>
                    <a:p>
                      <a:r>
                        <a:rPr sz="1800" b="1">
                          <a:solidFill>
                            <a:srgbClr val="FFFFFF"/>
                          </a:solidFill>
                          <a:latin typeface="Arial"/>
                          <a:ea typeface="Arial"/>
                          <a:cs typeface="Arial"/>
                        </a:rPr>
                        <a:t>Workflow</a:t>
                      </a:r>
                    </a:p>
                  </a:txBody>
                  <a:tcPr marL="91440" marR="91440" marT="45720" marB="45720" anchor="ctr">
                    <a:lnL w="9525">
                      <a:solidFill>
                        <a:srgbClr val="B8C9CF"/>
                      </a:solidFill>
                    </a:lnL>
                    <a:lnR w="9525">
                      <a:solidFill>
                        <a:srgbClr val="B8C9CF"/>
                      </a:solidFill>
                    </a:lnR>
                    <a:lnT w="9525">
                      <a:solidFill>
                        <a:srgbClr val="B8C9CF"/>
                      </a:solidFill>
                    </a:lnT>
                    <a:lnB w="9525">
                      <a:solidFill>
                        <a:srgbClr val="B8C9CF"/>
                      </a:solidFill>
                    </a:lnB>
                    <a:solidFill>
                      <a:srgbClr val="152D3A"/>
                    </a:solidFill>
                  </a:tcPr>
                </a:tc>
                <a:tc>
                  <a:txBody>
                    <a:bodyPr lIns="114300" tIns="114300" rIns="114300" bIns="114300"/>
                    <a:lstStyle/>
                    <a:p>
                      <a:r>
                        <a:rPr sz="1800" b="1">
                          <a:solidFill>
                            <a:srgbClr val="FFFFFF"/>
                          </a:solidFill>
                          <a:latin typeface="Arial"/>
                          <a:ea typeface="Arial"/>
                          <a:cs typeface="Arial"/>
                        </a:rPr>
                        <a:t>Website</a:t>
                      </a:r>
                    </a:p>
                  </a:txBody>
                  <a:tcPr marL="91440" marR="91440" marT="45720" marB="45720" anchor="ctr">
                    <a:lnR w="9525">
                      <a:solidFill>
                        <a:srgbClr val="B8C9CF"/>
                      </a:solidFill>
                    </a:lnR>
                    <a:lnT w="9525">
                      <a:solidFill>
                        <a:srgbClr val="B8C9CF"/>
                      </a:solidFill>
                    </a:lnT>
                    <a:lnB w="9525">
                      <a:solidFill>
                        <a:srgbClr val="B8C9CF"/>
                      </a:solidFill>
                    </a:lnB>
                    <a:solidFill>
                      <a:srgbClr val="152D3A"/>
                    </a:solidFill>
                  </a:tcPr>
                </a:tc>
                <a:tc>
                  <a:txBody>
                    <a:bodyPr lIns="114300" tIns="114300" rIns="114300" bIns="114300"/>
                    <a:lstStyle/>
                    <a:p>
                      <a:r>
                        <a:rPr sz="1800" b="1">
                          <a:solidFill>
                            <a:srgbClr val="FFFFFF"/>
                          </a:solidFill>
                          <a:latin typeface="Arial"/>
                          <a:ea typeface="Arial"/>
                          <a:cs typeface="Arial"/>
                        </a:rPr>
                        <a:t>API + database</a:t>
                      </a:r>
                    </a:p>
                  </a:txBody>
                  <a:tcPr marL="91440" marR="91440" marT="45720" marB="45720" anchor="ctr">
                    <a:lnR w="9525">
                      <a:solidFill>
                        <a:srgbClr val="B8C9CF"/>
                      </a:solidFill>
                    </a:lnR>
                    <a:lnT w="9525">
                      <a:solidFill>
                        <a:srgbClr val="B8C9CF"/>
                      </a:solidFill>
                    </a:lnT>
                    <a:lnB w="9525">
                      <a:solidFill>
                        <a:srgbClr val="B8C9CF"/>
                      </a:solidFill>
                    </a:lnB>
                    <a:solidFill>
                      <a:srgbClr val="152D3A"/>
                    </a:solidFill>
                  </a:tcPr>
                </a:tc>
                <a:tc>
                  <a:txBody>
                    <a:bodyPr lIns="114300" tIns="114300" rIns="114300" bIns="114300"/>
                    <a:lstStyle/>
                    <a:p>
                      <a:r>
                        <a:rPr sz="1800" b="1">
                          <a:solidFill>
                            <a:srgbClr val="FFFFFF"/>
                          </a:solidFill>
                          <a:latin typeface="Arial"/>
                          <a:ea typeface="Arial"/>
                          <a:cs typeface="Arial"/>
                        </a:rPr>
                        <a:t>Current status</a:t>
                      </a:r>
                    </a:p>
                  </a:txBody>
                  <a:tcPr marL="91440" marR="91440" marT="45720" marB="45720" anchor="ctr">
                    <a:lnR w="9525">
                      <a:solidFill>
                        <a:srgbClr val="B8C9CF"/>
                      </a:solidFill>
                    </a:lnR>
                    <a:lnT w="9525">
                      <a:solidFill>
                        <a:srgbClr val="B8C9CF"/>
                      </a:solidFill>
                    </a:lnT>
                    <a:lnB w="9525">
                      <a:solidFill>
                        <a:srgbClr val="B8C9CF"/>
                      </a:solidFill>
                    </a:lnB>
                    <a:solidFill>
                      <a:srgbClr val="152D3A"/>
                    </a:solidFill>
                  </a:tcPr>
                </a:tc>
              </a:tr>
              <a:tr h="742950">
                <a:tc>
                  <a:txBody>
                    <a:bodyPr lIns="114300" tIns="114300" rIns="114300" bIns="114300"/>
                    <a:lstStyle/>
                    <a:p>
                      <a:r>
                        <a:rPr sz="1800" b="0">
                          <a:solidFill>
                            <a:srgbClr val="152D3A"/>
                          </a:solidFill>
                          <a:latin typeface="Arial"/>
                          <a:ea typeface="Arial"/>
                          <a:cs typeface="Arial"/>
                        </a:rPr>
                        <a:t>1. Fully local</a:t>
                      </a:r>
                    </a:p>
                  </a:txBody>
                  <a:tcPr marL="91440" marR="91440" marT="45720" marB="45720" anchor="ctr">
                    <a:lnL w="9525">
                      <a:solidFill>
                        <a:srgbClr val="B8C9CF"/>
                      </a:solidFill>
                    </a:lnL>
                    <a:lnR w="9525">
                      <a:solidFill>
                        <a:srgbClr val="B8C9CF"/>
                      </a:solidFill>
                    </a:lnR>
                    <a:lnB w="9525">
                      <a:solidFill>
                        <a:srgbClr val="B8C9CF"/>
                      </a:solidFill>
                    </a:lnB>
                    <a:solidFill>
                      <a:srgbClr val="FFFFFF"/>
                    </a:solidFill>
                  </a:tcPr>
                </a:tc>
                <a:tc>
                  <a:txBody>
                    <a:bodyPr lIns="114300" tIns="114300" rIns="114300" bIns="114300"/>
                    <a:lstStyle/>
                    <a:p>
                      <a:r>
                        <a:rPr sz="1800" b="0">
                          <a:solidFill>
                            <a:srgbClr val="152D3A"/>
                          </a:solidFill>
                          <a:latin typeface="Arial"/>
                          <a:ea typeface="Arial"/>
                          <a:cs typeface="Arial"/>
                        </a:rPr>
                        <a:t>Local</a:t>
                      </a:r>
                    </a:p>
                  </a:txBody>
                  <a:tcPr marL="91440" marR="91440" marT="45720" marB="45720" anchor="ctr">
                    <a:lnR w="9525">
                      <a:solidFill>
                        <a:srgbClr val="B8C9CF"/>
                      </a:solidFill>
                    </a:lnR>
                    <a:lnB w="9525">
                      <a:solidFill>
                        <a:srgbClr val="B8C9CF"/>
                      </a:solidFill>
                    </a:lnB>
                    <a:solidFill>
                      <a:srgbClr val="FFFFFF"/>
                    </a:solidFill>
                  </a:tcPr>
                </a:tc>
                <a:tc>
                  <a:txBody>
                    <a:bodyPr lIns="114300" tIns="114300" rIns="114300" bIns="114300"/>
                    <a:lstStyle/>
                    <a:p>
                      <a:r>
                        <a:rPr sz="1800" b="0">
                          <a:solidFill>
                            <a:srgbClr val="152D3A"/>
                          </a:solidFill>
                          <a:latin typeface="Arial"/>
                          <a:ea typeface="Arial"/>
                          <a:cs typeface="Arial"/>
                        </a:rPr>
                        <a:t>Local</a:t>
                      </a:r>
                    </a:p>
                  </a:txBody>
                  <a:tcPr marL="91440" marR="91440" marT="45720" marB="45720" anchor="ctr">
                    <a:lnR w="9525">
                      <a:solidFill>
                        <a:srgbClr val="B8C9CF"/>
                      </a:solidFill>
                    </a:lnR>
                    <a:lnB w="9525">
                      <a:solidFill>
                        <a:srgbClr val="B8C9CF"/>
                      </a:solidFill>
                    </a:lnB>
                    <a:solidFill>
                      <a:srgbClr val="FFFFFF"/>
                    </a:solidFill>
                  </a:tcPr>
                </a:tc>
                <a:tc>
                  <a:txBody>
                    <a:bodyPr lIns="114300" tIns="114300" rIns="114300" bIns="114300"/>
                    <a:lstStyle/>
                    <a:p>
                      <a:r>
                        <a:rPr sz="1800" b="0">
                          <a:solidFill>
                            <a:srgbClr val="152D3A"/>
                          </a:solidFill>
                          <a:latin typeface="Arial"/>
                          <a:ea typeface="Arial"/>
                          <a:cs typeface="Arial"/>
                        </a:rPr>
                        <a:t>Implemented</a:t>
                      </a:r>
                    </a:p>
                    <a:p>
                      <a:r>
                        <a:rPr sz="1800" b="0">
                          <a:solidFill>
                            <a:srgbClr val="152D3A"/>
                          </a:solidFill>
                          <a:latin typeface="Arial"/>
                          <a:ea typeface="Arial"/>
                          <a:cs typeface="Arial"/>
                        </a:rPr>
                        <a:t>Sample-tested</a:t>
                      </a:r>
                    </a:p>
                  </a:txBody>
                  <a:tcPr marL="91440" marR="91440" marT="45720" marB="45720" anchor="ctr">
                    <a:lnR w="9525">
                      <a:solidFill>
                        <a:srgbClr val="B8C9CF"/>
                      </a:solidFill>
                    </a:lnR>
                    <a:lnB w="9525">
                      <a:solidFill>
                        <a:srgbClr val="B8C9CF"/>
                      </a:solidFill>
                    </a:lnB>
                    <a:solidFill>
                      <a:srgbClr val="FFFFFF"/>
                    </a:solidFill>
                  </a:tcPr>
                </a:tc>
              </a:tr>
              <a:tr h="742950">
                <a:tc>
                  <a:txBody>
                    <a:bodyPr lIns="114300" tIns="114300" rIns="114300" bIns="114300"/>
                    <a:lstStyle/>
                    <a:p>
                      <a:r>
                        <a:rPr sz="1800" b="0">
                          <a:solidFill>
                            <a:srgbClr val="152D3A"/>
                          </a:solidFill>
                          <a:latin typeface="Arial"/>
                          <a:ea typeface="Arial"/>
                          <a:cs typeface="Arial"/>
                        </a:rPr>
                        <a:t>2. Local website, cloud data</a:t>
                      </a:r>
                    </a:p>
                  </a:txBody>
                  <a:tcPr marL="91440" marR="91440" marT="45720" marB="45720" anchor="ctr">
                    <a:lnL w="9525">
                      <a:solidFill>
                        <a:srgbClr val="B8C9CF"/>
                      </a:solidFill>
                    </a:lnL>
                    <a:lnR w="9525">
                      <a:solidFill>
                        <a:srgbClr val="B8C9CF"/>
                      </a:solidFill>
                    </a:lnR>
                    <a:lnB w="9525">
                      <a:solidFill>
                        <a:srgbClr val="B8C9CF"/>
                      </a:solidFill>
                    </a:lnB>
                    <a:solidFill>
                      <a:srgbClr val="FFFFFF"/>
                    </a:solidFill>
                  </a:tcPr>
                </a:tc>
                <a:tc>
                  <a:txBody>
                    <a:bodyPr lIns="114300" tIns="114300" rIns="114300" bIns="114300"/>
                    <a:lstStyle/>
                    <a:p>
                      <a:r>
                        <a:rPr sz="1800" b="0">
                          <a:solidFill>
                            <a:srgbClr val="152D3A"/>
                          </a:solidFill>
                          <a:latin typeface="Arial"/>
                          <a:ea typeface="Arial"/>
                          <a:cs typeface="Arial"/>
                        </a:rPr>
                        <a:t>Local</a:t>
                      </a:r>
                    </a:p>
                  </a:txBody>
                  <a:tcPr marL="91440" marR="91440" marT="45720" marB="45720" anchor="ctr">
                    <a:lnR w="9525">
                      <a:solidFill>
                        <a:srgbClr val="B8C9CF"/>
                      </a:solidFill>
                    </a:lnR>
                    <a:lnB w="9525">
                      <a:solidFill>
                        <a:srgbClr val="B8C9CF"/>
                      </a:solidFill>
                    </a:lnB>
                    <a:solidFill>
                      <a:srgbClr val="FFFFFF"/>
                    </a:solidFill>
                  </a:tcPr>
                </a:tc>
                <a:tc>
                  <a:txBody>
                    <a:bodyPr lIns="114300" tIns="114300" rIns="114300" bIns="114300"/>
                    <a:lstStyle/>
                    <a:p>
                      <a:r>
                        <a:rPr sz="1800" b="0">
                          <a:solidFill>
                            <a:srgbClr val="152D3A"/>
                          </a:solidFill>
                          <a:latin typeface="Arial"/>
                          <a:ea typeface="Arial"/>
                          <a:cs typeface="Arial"/>
                        </a:rPr>
                        <a:t>Cloud</a:t>
                      </a:r>
                    </a:p>
                  </a:txBody>
                  <a:tcPr marL="91440" marR="91440" marT="45720" marB="45720" anchor="ctr">
                    <a:lnR w="9525">
                      <a:solidFill>
                        <a:srgbClr val="B8C9CF"/>
                      </a:solidFill>
                    </a:lnR>
                    <a:lnB w="9525">
                      <a:solidFill>
                        <a:srgbClr val="B8C9CF"/>
                      </a:solidFill>
                    </a:lnB>
                    <a:solidFill>
                      <a:srgbClr val="FFFFFF"/>
                    </a:solidFill>
                  </a:tcPr>
                </a:tc>
                <a:tc>
                  <a:txBody>
                    <a:bodyPr lIns="114300" tIns="114300" rIns="114300" bIns="114300"/>
                    <a:lstStyle/>
                    <a:p>
                      <a:r>
                        <a:rPr sz="1800" b="0">
                          <a:solidFill>
                            <a:srgbClr val="152D3A"/>
                          </a:solidFill>
                          <a:latin typeface="Arial"/>
                          <a:ea typeface="Arial"/>
                          <a:cs typeface="Arial"/>
                        </a:rPr>
                        <a:t>Planned</a:t>
                      </a:r>
                    </a:p>
                    <a:p>
                      <a:r>
                        <a:rPr sz="1800" b="0">
                          <a:solidFill>
                            <a:srgbClr val="152D3A"/>
                          </a:solidFill>
                          <a:latin typeface="Arial"/>
                          <a:ea typeface="Arial"/>
                          <a:cs typeface="Arial"/>
                        </a:rPr>
                        <a:t>Template only</a:t>
                      </a:r>
                    </a:p>
                  </a:txBody>
                  <a:tcPr marL="91440" marR="91440" marT="45720" marB="45720" anchor="ctr">
                    <a:lnR w="9525">
                      <a:solidFill>
                        <a:srgbClr val="B8C9CF"/>
                      </a:solidFill>
                    </a:lnR>
                    <a:lnB w="9525">
                      <a:solidFill>
                        <a:srgbClr val="B8C9CF"/>
                      </a:solidFill>
                    </a:lnB>
                    <a:solidFill>
                      <a:srgbClr val="FFFFFF"/>
                    </a:solidFill>
                  </a:tcPr>
                </a:tc>
              </a:tr>
              <a:tr h="742950">
                <a:tc>
                  <a:txBody>
                    <a:bodyPr lIns="114300" tIns="114300" rIns="114300" bIns="114300"/>
                    <a:lstStyle/>
                    <a:p>
                      <a:r>
                        <a:rPr sz="1800" b="0">
                          <a:solidFill>
                            <a:srgbClr val="152D3A"/>
                          </a:solidFill>
                          <a:latin typeface="Arial"/>
                          <a:ea typeface="Arial"/>
                          <a:cs typeface="Arial"/>
                        </a:rPr>
                        <a:t>3. Fully hosted</a:t>
                      </a:r>
                    </a:p>
                  </a:txBody>
                  <a:tcPr marL="91440" marR="91440" marT="45720" marB="45720" anchor="ctr">
                    <a:lnL w="9525">
                      <a:solidFill>
                        <a:srgbClr val="B8C9CF"/>
                      </a:solidFill>
                    </a:lnL>
                    <a:lnR w="9525">
                      <a:solidFill>
                        <a:srgbClr val="B8C9CF"/>
                      </a:solidFill>
                    </a:lnR>
                    <a:lnB w="9525">
                      <a:solidFill>
                        <a:srgbClr val="B8C9CF"/>
                      </a:solidFill>
                    </a:lnB>
                    <a:solidFill>
                      <a:srgbClr val="FFFFFF"/>
                    </a:solidFill>
                  </a:tcPr>
                </a:tc>
                <a:tc>
                  <a:txBody>
                    <a:bodyPr lIns="114300" tIns="114300" rIns="114300" bIns="114300"/>
                    <a:lstStyle/>
                    <a:p>
                      <a:r>
                        <a:rPr sz="1800" b="0">
                          <a:solidFill>
                            <a:srgbClr val="152D3A"/>
                          </a:solidFill>
                          <a:latin typeface="Arial"/>
                          <a:ea typeface="Arial"/>
                          <a:cs typeface="Arial"/>
                        </a:rPr>
                        <a:t>Cloud</a:t>
                      </a:r>
                    </a:p>
                  </a:txBody>
                  <a:tcPr marL="91440" marR="91440" marT="45720" marB="45720" anchor="ctr">
                    <a:lnR w="9525">
                      <a:solidFill>
                        <a:srgbClr val="B8C9CF"/>
                      </a:solidFill>
                    </a:lnR>
                    <a:lnB w="9525">
                      <a:solidFill>
                        <a:srgbClr val="B8C9CF"/>
                      </a:solidFill>
                    </a:lnB>
                    <a:solidFill>
                      <a:srgbClr val="FFFFFF"/>
                    </a:solidFill>
                  </a:tcPr>
                </a:tc>
                <a:tc>
                  <a:txBody>
                    <a:bodyPr lIns="114300" tIns="114300" rIns="114300" bIns="114300"/>
                    <a:lstStyle/>
                    <a:p>
                      <a:r>
                        <a:rPr sz="1800" b="0">
                          <a:solidFill>
                            <a:srgbClr val="152D3A"/>
                          </a:solidFill>
                          <a:latin typeface="Arial"/>
                          <a:ea typeface="Arial"/>
                          <a:cs typeface="Arial"/>
                        </a:rPr>
                        <a:t>Cloud</a:t>
                      </a:r>
                    </a:p>
                  </a:txBody>
                  <a:tcPr marL="91440" marR="91440" marT="45720" marB="45720" anchor="ctr">
                    <a:lnR w="9525">
                      <a:solidFill>
                        <a:srgbClr val="B8C9CF"/>
                      </a:solidFill>
                    </a:lnR>
                    <a:lnB w="9525">
                      <a:solidFill>
                        <a:srgbClr val="B8C9CF"/>
                      </a:solidFill>
                    </a:lnB>
                    <a:solidFill>
                      <a:srgbClr val="FFFFFF"/>
                    </a:solidFill>
                  </a:tcPr>
                </a:tc>
                <a:tc>
                  <a:txBody>
                    <a:bodyPr lIns="114300" tIns="114300" rIns="114300" bIns="114300"/>
                    <a:lstStyle/>
                    <a:p>
                      <a:r>
                        <a:rPr sz="1800" b="0">
                          <a:solidFill>
                            <a:srgbClr val="152D3A"/>
                          </a:solidFill>
                          <a:latin typeface="Arial"/>
                          <a:ea typeface="Arial"/>
                          <a:cs typeface="Arial"/>
                        </a:rPr>
                        <a:t>Planned</a:t>
                      </a:r>
                    </a:p>
                    <a:p>
                      <a:r>
                        <a:rPr sz="1800" b="0">
                          <a:solidFill>
                            <a:srgbClr val="152D3A"/>
                          </a:solidFill>
                          <a:latin typeface="Arial"/>
                          <a:ea typeface="Arial"/>
                          <a:cs typeface="Arial"/>
                        </a:rPr>
                        <a:t>Template only</a:t>
                      </a:r>
                    </a:p>
                  </a:txBody>
                  <a:tcPr marL="91440" marR="91440" marT="45720" marB="45720" anchor="ctr">
                    <a:lnR w="9525">
                      <a:solidFill>
                        <a:srgbClr val="B8C9CF"/>
                      </a:solidFill>
                    </a:lnR>
                    <a:lnB w="9525">
                      <a:solidFill>
                        <a:srgbClr val="B8C9CF"/>
                      </a:solidFill>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5FBC1B8-5283-404E-BF86-E8A7307BAD3E}"/>
              </a:ext>
            </a:extLst>
          </p:cNvPr>
          <p:cNvSpPr>
            <a:spLocks xmlns:a="http://schemas.openxmlformats.org/drawingml/2006/main" noGrp="1"/>
          </p:cNvSpPr>
          <p:nvPr/>
        </p:nvSpPr>
        <p:spPr>
          <a:xfrm xmlns:a="http://schemas.openxmlformats.org/drawingml/2006/main">
            <a:off x="571500" y="5143500"/>
            <a:ext cx="11029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52D3A"/>
                </a:solidFill>
                <a:latin typeface="Arial"/>
                <a:ea typeface="Arial"/>
                <a:cs typeface="Arial"/>
              </a:defRPr>
            </a:defPPr>
            <a:lvl1pPr algn="l">
              <a:defRPr sz="2175" b="1">
                <a:solidFill>
                  <a:srgbClr val="152D3A"/>
                </a:solidFill>
                <a:latin typeface="Arial"/>
                <a:ea typeface="Arial"/>
                <a:cs typeface="Arial"/>
              </a:defRPr>
            </a:lvl1pPr>
            <a:lvl2pPr algn="l">
              <a:defRPr sz="2175" b="1">
                <a:solidFill>
                  <a:srgbClr val="152D3A"/>
                </a:solidFill>
                <a:latin typeface="Arial"/>
                <a:ea typeface="Arial"/>
                <a:cs typeface="Arial"/>
              </a:defRPr>
            </a:lvl2pPr>
            <a:lvl3pPr algn="l">
              <a:defRPr sz="2175" b="1">
                <a:solidFill>
                  <a:srgbClr val="152D3A"/>
                </a:solidFill>
                <a:latin typeface="Arial"/>
                <a:ea typeface="Arial"/>
                <a:cs typeface="Arial"/>
              </a:defRPr>
            </a:lvl3pPr>
            <a:lvl4pPr algn="l">
              <a:defRPr sz="2175" b="1">
                <a:solidFill>
                  <a:srgbClr val="152D3A"/>
                </a:solidFill>
                <a:latin typeface="Arial"/>
                <a:ea typeface="Arial"/>
                <a:cs typeface="Arial"/>
              </a:defRPr>
            </a:lvl4pPr>
            <a:lvl5pPr algn="l">
              <a:defRPr sz="2175" b="1">
                <a:solidFill>
                  <a:srgbClr val="152D3A"/>
                </a:solidFill>
                <a:latin typeface="Arial"/>
                <a:ea typeface="Arial"/>
                <a:cs typeface="Arial"/>
              </a:defRPr>
            </a:lvl5pPr>
            <a:lvl6pPr algn="l">
              <a:defRPr sz="2175" b="1">
                <a:solidFill>
                  <a:srgbClr val="152D3A"/>
                </a:solidFill>
                <a:latin typeface="Arial"/>
                <a:ea typeface="Arial"/>
                <a:cs typeface="Arial"/>
              </a:defRPr>
            </a:lvl6pPr>
            <a:lvl7pPr algn="l">
              <a:defRPr sz="2175" b="1">
                <a:solidFill>
                  <a:srgbClr val="152D3A"/>
                </a:solidFill>
                <a:latin typeface="Arial"/>
                <a:ea typeface="Arial"/>
                <a:cs typeface="Arial"/>
              </a:defRPr>
            </a:lvl7pPr>
            <a:lvl8pPr algn="l">
              <a:defRPr sz="2175" b="1">
                <a:solidFill>
                  <a:srgbClr val="152D3A"/>
                </a:solidFill>
                <a:latin typeface="Arial"/>
                <a:ea typeface="Arial"/>
                <a:cs typeface="Arial"/>
              </a:defRPr>
            </a:lvl8pPr>
            <a:lvl9pPr algn="l">
              <a:defRPr sz="2175" b="1">
                <a:solidFill>
                  <a:srgbClr val="152D3A"/>
                </a:solidFill>
                <a:latin typeface="Arial"/>
                <a:ea typeface="Arial"/>
                <a:cs typeface="Arial"/>
              </a:defRPr>
            </a:lvl9pPr>
          </a:lstStyle>
          <a:p xmlns:a="http://schemas.openxmlformats.org/drawingml/2006/main">
            <a:pPr algn="l">
              <a:defRPr sz="2175" b="1">
                <a:solidFill>
                  <a:srgbClr val="152D3A"/>
                </a:solidFill>
                <a:latin typeface="Arial"/>
                <a:ea typeface="Arial"/>
                <a:cs typeface="Arial"/>
              </a:defRPr>
            </a:pPr>
            <a:r>
              <a:rPr sz="2175" b="1">
                <a:solidFill>
                  <a:srgbClr val="152D3A"/>
                </a:solidFill>
                <a:latin typeface="Arial"/>
                <a:ea typeface="Arial"/>
                <a:cs typeface="Arial"/>
              </a:rPr>
              <a:t>Current focus: complete the fully local workflow before cloud deployment.</a:t>
            </a:r>
          </a:p>
        </p:txBody>
      </p:sp>
      <p:sp>
        <p:nvSpPr>
          <p:cNvPr id="5" name="">
            <a:extLst xmlns:a="http://schemas.openxmlformats.org/drawingml/2006/main">
              <a:ext uri="{FF2B5EF4-FFF2-40B4-BE49-F238E27FC236}">
                <a16:creationId xmlns:a16="http://schemas.microsoft.com/office/drawing/2014/main" id="{2D9C6C68-3CD2-4F48-9877-3E7768426B26}"/>
              </a:ext>
            </a:extLst>
          </p:cNvPr>
          <p:cNvSpPr>
            <a:spLocks xmlns:a="http://schemas.openxmlformats.org/drawingml/2006/main" noGrp="1"/>
          </p:cNvSpPr>
          <p:nvPr/>
        </p:nvSpPr>
        <p:spPr>
          <a:xfrm xmlns:a="http://schemas.openxmlformats.org/drawingml/2006/main">
            <a:off x="571500" y="6010275"/>
            <a:ext cx="10953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536673"/>
                </a:solidFill>
                <a:latin typeface="Arial"/>
                <a:ea typeface="Arial"/>
                <a:cs typeface="Arial"/>
              </a:defRPr>
            </a:defPPr>
            <a:lvl1pPr algn="l">
              <a:defRPr sz="1575" b="0">
                <a:solidFill>
                  <a:srgbClr val="536673"/>
                </a:solidFill>
                <a:latin typeface="Arial"/>
                <a:ea typeface="Arial"/>
                <a:cs typeface="Arial"/>
              </a:defRPr>
            </a:lvl1pPr>
            <a:lvl2pPr algn="l">
              <a:defRPr sz="1575" b="0">
                <a:solidFill>
                  <a:srgbClr val="536673"/>
                </a:solidFill>
                <a:latin typeface="Arial"/>
                <a:ea typeface="Arial"/>
                <a:cs typeface="Arial"/>
              </a:defRPr>
            </a:lvl2pPr>
            <a:lvl3pPr algn="l">
              <a:defRPr sz="1575" b="0">
                <a:solidFill>
                  <a:srgbClr val="536673"/>
                </a:solidFill>
                <a:latin typeface="Arial"/>
                <a:ea typeface="Arial"/>
                <a:cs typeface="Arial"/>
              </a:defRPr>
            </a:lvl3pPr>
            <a:lvl4pPr algn="l">
              <a:defRPr sz="1575" b="0">
                <a:solidFill>
                  <a:srgbClr val="536673"/>
                </a:solidFill>
                <a:latin typeface="Arial"/>
                <a:ea typeface="Arial"/>
                <a:cs typeface="Arial"/>
              </a:defRPr>
            </a:lvl4pPr>
            <a:lvl5pPr algn="l">
              <a:defRPr sz="1575" b="0">
                <a:solidFill>
                  <a:srgbClr val="536673"/>
                </a:solidFill>
                <a:latin typeface="Arial"/>
                <a:ea typeface="Arial"/>
                <a:cs typeface="Arial"/>
              </a:defRPr>
            </a:lvl5pPr>
            <a:lvl6pPr algn="l">
              <a:defRPr sz="1575" b="0">
                <a:solidFill>
                  <a:srgbClr val="536673"/>
                </a:solidFill>
                <a:latin typeface="Arial"/>
                <a:ea typeface="Arial"/>
                <a:cs typeface="Arial"/>
              </a:defRPr>
            </a:lvl6pPr>
            <a:lvl7pPr algn="l">
              <a:defRPr sz="1575" b="0">
                <a:solidFill>
                  <a:srgbClr val="536673"/>
                </a:solidFill>
                <a:latin typeface="Arial"/>
                <a:ea typeface="Arial"/>
                <a:cs typeface="Arial"/>
              </a:defRPr>
            </a:lvl7pPr>
            <a:lvl8pPr algn="l">
              <a:defRPr sz="1575" b="0">
                <a:solidFill>
                  <a:srgbClr val="536673"/>
                </a:solidFill>
                <a:latin typeface="Arial"/>
                <a:ea typeface="Arial"/>
                <a:cs typeface="Arial"/>
              </a:defRPr>
            </a:lvl8pPr>
            <a:lvl9pPr algn="l">
              <a:defRPr sz="1575" b="0">
                <a:solidFill>
                  <a:srgbClr val="536673"/>
                </a:solidFill>
                <a:latin typeface="Arial"/>
                <a:ea typeface="Arial"/>
                <a:cs typeface="Arial"/>
              </a:defRPr>
            </a:lvl9pPr>
          </a:lstStyle>
          <a:p xmlns:a="http://schemas.openxmlformats.org/drawingml/2006/main">
            <a:pPr algn="l">
              <a:defRPr sz="1575" b="0">
                <a:solidFill>
                  <a:srgbClr val="536673"/>
                </a:solidFill>
                <a:latin typeface="Arial"/>
                <a:ea typeface="Arial"/>
                <a:cs typeface="Arial"/>
              </a:defRPr>
            </a:pPr>
            <a:r>
              <a:rPr sz="1575" b="0">
                <a:solidFill>
                  <a:srgbClr val="536673"/>
                </a:solidFill>
                <a:latin typeface="Arial"/>
                <a:ea typeface="Arial"/>
                <a:cs typeface="Arial"/>
              </a:rPr>
              <a:t>Mapbox supplies maps and geocoding in every workflow; local hosting still needs internet access.</a:t>
            </a:r>
          </a:p>
        </p:txBody>
      </p:sp>
    </p:spTree>
    <p:extLst>
      <p:ext uri="{BB962C8B-B14F-4D97-AF65-F5344CB8AC3E}">
        <p14:creationId xmlns:p14="http://schemas.microsoft.com/office/powerpoint/2010/main" val="2787092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E90693F3-1F0F-4879-A510-947EC8A2CF2D}"/>
              </a:ext>
            </a:extLst>
          </p:cNvPr>
          <p:cNvCxnSpPr>
            <a:stCxn xmlns:a="http://schemas.openxmlformats.org/drawingml/2006/main" id="7" idx="3"/>
            <a:endCxn xmlns:a="http://schemas.openxmlformats.org/drawingml/2006/main" id="8" idx="1"/>
          </p:cNvCxnSpPr>
          <p:nvPr/>
        </p:nvCxnSpPr>
        <p:spPr>
          <a:xfrm xmlns:a="http://schemas.openxmlformats.org/drawingml/2006/main">
            <a:off x="8286750" y="2952750"/>
            <a:ext cx="762000" cy="0"/>
          </a:xfrm>
          <a:prstGeom xmlns:a="http://schemas.openxmlformats.org/drawingml/2006/main" prst="straightConnector1">
            <a:avLst/>
          </a:prstGeom>
          <a:ln xmlns:a="http://schemas.openxmlformats.org/drawingml/2006/main" w="19050">
            <a:solidFill>
              <a:srgbClr val="152D3A"/>
            </a:solidFill>
            <a:tailEnd type="arrow" w="med" len="med"/>
          </a:ln>
        </p:spPr>
      </p:cxnSp>
      <p:cxnSp>
        <p:nvCxnSpPr>
          <p:cNvPr id="10" name="">
            <a:extLst xmlns:a="http://schemas.openxmlformats.org/drawingml/2006/main">
              <a:ext uri="{FF2B5EF4-FFF2-40B4-BE49-F238E27FC236}">
                <a16:creationId xmlns:a16="http://schemas.microsoft.com/office/drawing/2014/main" id="{4366B95A-1B25-468C-A690-6760BC646A16}"/>
              </a:ext>
            </a:extLst>
          </p:cNvPr>
          <p:cNvCxnSpPr>
            <a:stCxn xmlns:a="http://schemas.openxmlformats.org/drawingml/2006/main" id="6" idx="3"/>
            <a:endCxn xmlns:a="http://schemas.openxmlformats.org/drawingml/2006/main" id="7" idx="1"/>
          </p:cNvCxnSpPr>
          <p:nvPr/>
        </p:nvCxnSpPr>
        <p:spPr>
          <a:xfrm xmlns:a="http://schemas.openxmlformats.org/drawingml/2006/main">
            <a:off x="5572125" y="2952750"/>
            <a:ext cx="762000" cy="0"/>
          </a:xfrm>
          <a:prstGeom xmlns:a="http://schemas.openxmlformats.org/drawingml/2006/main" prst="straightConnector1">
            <a:avLst/>
          </a:prstGeom>
          <a:ln xmlns:a="http://schemas.openxmlformats.org/drawingml/2006/main" w="19050">
            <a:solidFill>
              <a:srgbClr val="152D3A"/>
            </a:solidFill>
            <a:tailEnd type="arrow" w="med" len="med"/>
          </a:ln>
        </p:spPr>
      </p:cxnSp>
      <p:cxnSp>
        <p:nvCxnSpPr>
          <p:cNvPr id="9" name="">
            <a:extLst xmlns:a="http://schemas.openxmlformats.org/drawingml/2006/main">
              <a:ext uri="{FF2B5EF4-FFF2-40B4-BE49-F238E27FC236}">
                <a16:creationId xmlns:a16="http://schemas.microsoft.com/office/drawing/2014/main" id="{F198F072-6442-47B5-B5FC-4305546DD16E}"/>
              </a:ext>
            </a:extLst>
          </p:cNvPr>
          <p:cNvCxnSpPr>
            <a:stCxn xmlns:a="http://schemas.openxmlformats.org/drawingml/2006/main" id="5" idx="3"/>
            <a:endCxn xmlns:a="http://schemas.openxmlformats.org/drawingml/2006/main" id="6" idx="1"/>
          </p:cNvCxnSpPr>
          <p:nvPr/>
        </p:nvCxnSpPr>
        <p:spPr>
          <a:xfrm xmlns:a="http://schemas.openxmlformats.org/drawingml/2006/main">
            <a:off x="2524125" y="2952750"/>
            <a:ext cx="762000" cy="0"/>
          </a:xfrm>
          <a:prstGeom xmlns:a="http://schemas.openxmlformats.org/drawingml/2006/main" prst="straightConnector1">
            <a:avLst/>
          </a:prstGeom>
          <a:ln xmlns:a="http://schemas.openxmlformats.org/drawingml/2006/main" w="19050">
            <a:solidFill>
              <a:srgbClr val="152D3A"/>
            </a:solidFill>
            <a:tailEnd type="arrow" w="med" len="med"/>
          </a:ln>
        </p:spPr>
      </p:cxnSp>
      <p:sp>
        <p:nvSpPr>
          <p:cNvPr id="14" name="">
            <a:extLst xmlns:a="http://schemas.openxmlformats.org/drawingml/2006/main">
              <a:ext uri="{FF2B5EF4-FFF2-40B4-BE49-F238E27FC236}">
                <a16:creationId xmlns:a16="http://schemas.microsoft.com/office/drawing/2014/main" id="{26DE2F7B-8260-4F5A-87D0-AEDCFE6B985D}"/>
              </a:ext>
            </a:extLst>
          </p:cNvPr>
          <p:cNvSpPr>
            <a:spLocks xmlns:a="http://schemas.openxmlformats.org/drawingml/2006/main" noGrp="1"/>
          </p:cNvSpPr>
          <p:nvPr/>
        </p:nvSpPr>
        <p:spPr>
          <a:xfrm xmlns:a="http://schemas.openxmlformats.org/drawingml/2006/main">
            <a:off x="533400" y="38100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152D3A"/>
                </a:solidFill>
                <a:latin typeface="Arial"/>
                <a:ea typeface="Arial"/>
                <a:cs typeface="Arial"/>
              </a:defRPr>
            </a:defPPr>
            <a:lvl1pPr algn="l">
              <a:defRPr sz="3300" b="1">
                <a:solidFill>
                  <a:srgbClr val="152D3A"/>
                </a:solidFill>
                <a:latin typeface="Arial"/>
                <a:ea typeface="Arial"/>
                <a:cs typeface="Arial"/>
              </a:defRPr>
            </a:lvl1pPr>
            <a:lvl2pPr algn="l">
              <a:defRPr sz="3300" b="1">
                <a:solidFill>
                  <a:srgbClr val="152D3A"/>
                </a:solidFill>
                <a:latin typeface="Arial"/>
                <a:ea typeface="Arial"/>
                <a:cs typeface="Arial"/>
              </a:defRPr>
            </a:lvl2pPr>
            <a:lvl3pPr algn="l">
              <a:defRPr sz="3300" b="1">
                <a:solidFill>
                  <a:srgbClr val="152D3A"/>
                </a:solidFill>
                <a:latin typeface="Arial"/>
                <a:ea typeface="Arial"/>
                <a:cs typeface="Arial"/>
              </a:defRPr>
            </a:lvl3pPr>
            <a:lvl4pPr algn="l">
              <a:defRPr sz="3300" b="1">
                <a:solidFill>
                  <a:srgbClr val="152D3A"/>
                </a:solidFill>
                <a:latin typeface="Arial"/>
                <a:ea typeface="Arial"/>
                <a:cs typeface="Arial"/>
              </a:defRPr>
            </a:lvl4pPr>
            <a:lvl5pPr algn="l">
              <a:defRPr sz="3300" b="1">
                <a:solidFill>
                  <a:srgbClr val="152D3A"/>
                </a:solidFill>
                <a:latin typeface="Arial"/>
                <a:ea typeface="Arial"/>
                <a:cs typeface="Arial"/>
              </a:defRPr>
            </a:lvl5pPr>
            <a:lvl6pPr algn="l">
              <a:defRPr sz="3300" b="1">
                <a:solidFill>
                  <a:srgbClr val="152D3A"/>
                </a:solidFill>
                <a:latin typeface="Arial"/>
                <a:ea typeface="Arial"/>
                <a:cs typeface="Arial"/>
              </a:defRPr>
            </a:lvl6pPr>
            <a:lvl7pPr algn="l">
              <a:defRPr sz="3300" b="1">
                <a:solidFill>
                  <a:srgbClr val="152D3A"/>
                </a:solidFill>
                <a:latin typeface="Arial"/>
                <a:ea typeface="Arial"/>
                <a:cs typeface="Arial"/>
              </a:defRPr>
            </a:lvl7pPr>
            <a:lvl8pPr algn="l">
              <a:defRPr sz="3300" b="1">
                <a:solidFill>
                  <a:srgbClr val="152D3A"/>
                </a:solidFill>
                <a:latin typeface="Arial"/>
                <a:ea typeface="Arial"/>
                <a:cs typeface="Arial"/>
              </a:defRPr>
            </a:lvl8pPr>
            <a:lvl9pPr algn="l">
              <a:defRPr sz="3300" b="1">
                <a:solidFill>
                  <a:srgbClr val="152D3A"/>
                </a:solidFill>
                <a:latin typeface="Arial"/>
                <a:ea typeface="Arial"/>
                <a:cs typeface="Arial"/>
              </a:defRPr>
            </a:lvl9pPr>
          </a:lstStyle>
          <a:p xmlns:a="http://schemas.openxmlformats.org/drawingml/2006/main">
            <a:pPr algn="l">
              <a:defRPr sz="3300" b="1">
                <a:solidFill>
                  <a:srgbClr val="152D3A"/>
                </a:solidFill>
                <a:latin typeface="Arial"/>
                <a:ea typeface="Arial"/>
                <a:cs typeface="Arial"/>
              </a:defRPr>
            </a:pPr>
            <a:r>
              <a:rPr sz="3300" b="1">
                <a:solidFill>
                  <a:srgbClr val="152D3A"/>
                </a:solidFill>
                <a:latin typeface="Arial"/>
                <a:ea typeface="Arial"/>
                <a:cs typeface="Arial"/>
              </a:rPr>
              <a:t>1. Local website + local database</a:t>
            </a:r>
          </a:p>
        </p:txBody>
      </p:sp>
      <p:sp>
        <p:nvSpPr>
          <p:cNvPr id="2" name="">
            <a:extLst xmlns:a="http://schemas.openxmlformats.org/drawingml/2006/main">
              <a:ext uri="{FF2B5EF4-FFF2-40B4-BE49-F238E27FC236}">
                <a16:creationId xmlns:a16="http://schemas.microsoft.com/office/drawing/2014/main" id="{CD280B59-94E6-4AA3-9056-BB99E632B5D1}"/>
              </a:ext>
            </a:extLst>
          </p:cNvPr>
          <p:cNvSpPr>
            <a:spLocks xmlns:a="http://schemas.openxmlformats.org/drawingml/2006/main" noGrp="1"/>
          </p:cNvSpPr>
          <p:nvPr/>
        </p:nvSpPr>
        <p:spPr>
          <a:xfrm xmlns:a="http://schemas.openxmlformats.org/drawingml/2006/main">
            <a:off x="552450" y="1133475"/>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087E70"/>
                </a:solidFill>
                <a:latin typeface="Arial"/>
                <a:ea typeface="Arial"/>
                <a:cs typeface="Arial"/>
              </a:defRPr>
            </a:defPPr>
            <a:lvl1pPr algn="l">
              <a:defRPr sz="1875" b="0">
                <a:solidFill>
                  <a:srgbClr val="087E70"/>
                </a:solidFill>
                <a:latin typeface="Arial"/>
                <a:ea typeface="Arial"/>
                <a:cs typeface="Arial"/>
              </a:defRPr>
            </a:lvl1pPr>
            <a:lvl2pPr algn="l">
              <a:defRPr sz="1875" b="0">
                <a:solidFill>
                  <a:srgbClr val="087E70"/>
                </a:solidFill>
                <a:latin typeface="Arial"/>
                <a:ea typeface="Arial"/>
                <a:cs typeface="Arial"/>
              </a:defRPr>
            </a:lvl2pPr>
            <a:lvl3pPr algn="l">
              <a:defRPr sz="1875" b="0">
                <a:solidFill>
                  <a:srgbClr val="087E70"/>
                </a:solidFill>
                <a:latin typeface="Arial"/>
                <a:ea typeface="Arial"/>
                <a:cs typeface="Arial"/>
              </a:defRPr>
            </a:lvl3pPr>
            <a:lvl4pPr algn="l">
              <a:defRPr sz="1875" b="0">
                <a:solidFill>
                  <a:srgbClr val="087E70"/>
                </a:solidFill>
                <a:latin typeface="Arial"/>
                <a:ea typeface="Arial"/>
                <a:cs typeface="Arial"/>
              </a:defRPr>
            </a:lvl4pPr>
            <a:lvl5pPr algn="l">
              <a:defRPr sz="1875" b="0">
                <a:solidFill>
                  <a:srgbClr val="087E70"/>
                </a:solidFill>
                <a:latin typeface="Arial"/>
                <a:ea typeface="Arial"/>
                <a:cs typeface="Arial"/>
              </a:defRPr>
            </a:lvl5pPr>
            <a:lvl6pPr algn="l">
              <a:defRPr sz="1875" b="0">
                <a:solidFill>
                  <a:srgbClr val="087E70"/>
                </a:solidFill>
                <a:latin typeface="Arial"/>
                <a:ea typeface="Arial"/>
                <a:cs typeface="Arial"/>
              </a:defRPr>
            </a:lvl6pPr>
            <a:lvl7pPr algn="l">
              <a:defRPr sz="1875" b="0">
                <a:solidFill>
                  <a:srgbClr val="087E70"/>
                </a:solidFill>
                <a:latin typeface="Arial"/>
                <a:ea typeface="Arial"/>
                <a:cs typeface="Arial"/>
              </a:defRPr>
            </a:lvl7pPr>
            <a:lvl8pPr algn="l">
              <a:defRPr sz="1875" b="0">
                <a:solidFill>
                  <a:srgbClr val="087E70"/>
                </a:solidFill>
                <a:latin typeface="Arial"/>
                <a:ea typeface="Arial"/>
                <a:cs typeface="Arial"/>
              </a:defRPr>
            </a:lvl8pPr>
            <a:lvl9pPr algn="l">
              <a:defRPr sz="1875" b="0">
                <a:solidFill>
                  <a:srgbClr val="087E70"/>
                </a:solidFill>
                <a:latin typeface="Arial"/>
                <a:ea typeface="Arial"/>
                <a:cs typeface="Arial"/>
              </a:defRPr>
            </a:lvl9pPr>
          </a:lstStyle>
          <a:p xmlns:a="http://schemas.openxmlformats.org/drawingml/2006/main">
            <a:pPr algn="l">
              <a:defRPr sz="1875" b="0">
                <a:solidFill>
                  <a:srgbClr val="087E70"/>
                </a:solidFill>
                <a:latin typeface="Arial"/>
                <a:ea typeface="Arial"/>
                <a:cs typeface="Arial"/>
              </a:defRPr>
            </a:pPr>
            <a:r>
              <a:rPr sz="1875" b="0">
                <a:solidFill>
                  <a:srgbClr val="087E70"/>
                </a:solidFill>
                <a:latin typeface="Arial"/>
                <a:ea typeface="Arial"/>
                <a:cs typeface="Arial"/>
              </a:rPr>
              <a:t>Implemented and verified with a 200,000-row sample</a:t>
            </a:r>
          </a:p>
        </p:txBody>
      </p:sp>
      <p:sp>
        <p:nvSpPr>
          <p:cNvPr id="3" name="YOUR COMPUTER">
            <a:extLst xmlns:a="http://schemas.openxmlformats.org/drawingml/2006/main">
              <a:ext uri="{FF2B5EF4-FFF2-40B4-BE49-F238E27FC236}">
                <a16:creationId xmlns:a16="http://schemas.microsoft.com/office/drawing/2014/main" id="{55BF10D3-E76F-4340-A3F6-00D874DD649D}"/>
              </a:ext>
            </a:extLst>
          </p:cNvPr>
          <p:cNvSpPr>
            <a:spLocks xmlns:a="http://schemas.openxmlformats.org/drawingml/2006/main" noGrp="1"/>
          </p:cNvSpPr>
          <p:nvPr/>
        </p:nvSpPr>
        <p:spPr>
          <a:xfrm xmlns:a="http://schemas.openxmlformats.org/drawingml/2006/main">
            <a:off x="523875" y="1771650"/>
            <a:ext cx="11144250" cy="2209800"/>
          </a:xfrm>
          <a:prstGeom xmlns:a="http://schemas.openxmlformats.org/drawingml/2006/main" prst="rect">
            <a:avLst/>
          </a:prstGeom>
          <a:noFill xmlns:a="http://schemas.openxmlformats.org/drawingml/2006/main"/>
          <a:ln xmlns:a="http://schemas.openxmlformats.org/drawingml/2006/main" w="14288">
            <a:solidFill>
              <a:srgbClr val="087E70"/>
            </a:solidFill>
          </a:ln>
        </p:spPr>
      </p:sp>
      <p:sp>
        <p:nvSpPr>
          <p:cNvPr id="4" name="">
            <a:extLst xmlns:a="http://schemas.openxmlformats.org/drawingml/2006/main">
              <a:ext uri="{FF2B5EF4-FFF2-40B4-BE49-F238E27FC236}">
                <a16:creationId xmlns:a16="http://schemas.microsoft.com/office/drawing/2014/main" id="{AC7BE2C4-A130-4FC7-963F-ED0429BDB043}"/>
              </a:ext>
            </a:extLst>
          </p:cNvPr>
          <p:cNvSpPr>
            <a:spLocks xmlns:a="http://schemas.openxmlformats.org/drawingml/2006/main" noGrp="1"/>
          </p:cNvSpPr>
          <p:nvPr/>
        </p:nvSpPr>
        <p:spPr>
          <a:xfrm xmlns:a="http://schemas.openxmlformats.org/drawingml/2006/main">
            <a:off x="695325" y="1876425"/>
            <a:ext cx="108013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1">
                <a:solidFill>
                  <a:srgbClr val="087E70"/>
                </a:solidFill>
                <a:latin typeface="Arial"/>
                <a:ea typeface="Arial"/>
                <a:cs typeface="Arial"/>
              </a:defRPr>
            </a:defPPr>
            <a:lvl1pPr algn="l">
              <a:defRPr sz="1425" b="1">
                <a:solidFill>
                  <a:srgbClr val="087E70"/>
                </a:solidFill>
                <a:latin typeface="Arial"/>
                <a:ea typeface="Arial"/>
                <a:cs typeface="Arial"/>
              </a:defRPr>
            </a:lvl1pPr>
            <a:lvl2pPr algn="l">
              <a:defRPr sz="1425" b="1">
                <a:solidFill>
                  <a:srgbClr val="087E70"/>
                </a:solidFill>
                <a:latin typeface="Arial"/>
                <a:ea typeface="Arial"/>
                <a:cs typeface="Arial"/>
              </a:defRPr>
            </a:lvl2pPr>
            <a:lvl3pPr algn="l">
              <a:defRPr sz="1425" b="1">
                <a:solidFill>
                  <a:srgbClr val="087E70"/>
                </a:solidFill>
                <a:latin typeface="Arial"/>
                <a:ea typeface="Arial"/>
                <a:cs typeface="Arial"/>
              </a:defRPr>
            </a:lvl3pPr>
            <a:lvl4pPr algn="l">
              <a:defRPr sz="1425" b="1">
                <a:solidFill>
                  <a:srgbClr val="087E70"/>
                </a:solidFill>
                <a:latin typeface="Arial"/>
                <a:ea typeface="Arial"/>
                <a:cs typeface="Arial"/>
              </a:defRPr>
            </a:lvl4pPr>
            <a:lvl5pPr algn="l">
              <a:defRPr sz="1425" b="1">
                <a:solidFill>
                  <a:srgbClr val="087E70"/>
                </a:solidFill>
                <a:latin typeface="Arial"/>
                <a:ea typeface="Arial"/>
                <a:cs typeface="Arial"/>
              </a:defRPr>
            </a:lvl5pPr>
            <a:lvl6pPr algn="l">
              <a:defRPr sz="1425" b="1">
                <a:solidFill>
                  <a:srgbClr val="087E70"/>
                </a:solidFill>
                <a:latin typeface="Arial"/>
                <a:ea typeface="Arial"/>
                <a:cs typeface="Arial"/>
              </a:defRPr>
            </a:lvl6pPr>
            <a:lvl7pPr algn="l">
              <a:defRPr sz="1425" b="1">
                <a:solidFill>
                  <a:srgbClr val="087E70"/>
                </a:solidFill>
                <a:latin typeface="Arial"/>
                <a:ea typeface="Arial"/>
                <a:cs typeface="Arial"/>
              </a:defRPr>
            </a:lvl7pPr>
            <a:lvl8pPr algn="l">
              <a:defRPr sz="1425" b="1">
                <a:solidFill>
                  <a:srgbClr val="087E70"/>
                </a:solidFill>
                <a:latin typeface="Arial"/>
                <a:ea typeface="Arial"/>
                <a:cs typeface="Arial"/>
              </a:defRPr>
            </a:lvl8pPr>
            <a:lvl9pPr algn="l">
              <a:defRPr sz="1425" b="1">
                <a:solidFill>
                  <a:srgbClr val="087E70"/>
                </a:solidFill>
                <a:latin typeface="Arial"/>
                <a:ea typeface="Arial"/>
                <a:cs typeface="Arial"/>
              </a:defRPr>
            </a:lvl9pPr>
          </a:lstStyle>
          <a:p xmlns:a="http://schemas.openxmlformats.org/drawingml/2006/main">
            <a:pPr algn="l">
              <a:defRPr sz="1425" b="1">
                <a:solidFill>
                  <a:srgbClr val="087E70"/>
                </a:solidFill>
                <a:latin typeface="Arial"/>
                <a:ea typeface="Arial"/>
                <a:cs typeface="Arial"/>
              </a:defRPr>
            </a:pPr>
            <a:r>
              <a:rPr sz="1425" b="1">
                <a:solidFill>
                  <a:srgbClr val="087E70"/>
                </a:solidFill>
                <a:latin typeface="Arial"/>
                <a:ea typeface="Arial"/>
                <a:cs typeface="Arial"/>
              </a:rPr>
              <a:t>YOUR COMPUTER</a:t>
            </a:r>
          </a:p>
        </p:txBody>
      </p:sp>
      <p:sp>
        <p:nvSpPr>
          <p:cNvPr id="5" name="Browser">
            <a:extLst xmlns:a="http://schemas.openxmlformats.org/drawingml/2006/main">
              <a:ext uri="{FF2B5EF4-FFF2-40B4-BE49-F238E27FC236}">
                <a16:creationId xmlns:a16="http://schemas.microsoft.com/office/drawing/2014/main" id="{478343A9-ECF2-45D6-BE94-2411DBB37156}"/>
              </a:ext>
            </a:extLst>
          </p:cNvPr>
          <p:cNvSpPr>
            <a:spLocks xmlns:a="http://schemas.openxmlformats.org/drawingml/2006/main" noGrp="1"/>
          </p:cNvSpPr>
          <p:nvPr/>
        </p:nvSpPr>
        <p:spPr>
          <a:xfrm xmlns:a="http://schemas.openxmlformats.org/drawingml/2006/main">
            <a:off x="809625" y="2533650"/>
            <a:ext cx="171450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Browser</a:t>
            </a:r>
          </a:p>
        </p:txBody>
      </p:sp>
      <p:sp>
        <p:nvSpPr>
          <p:cNvPr id="6" name="Website Next.js + proxy">
            <a:extLst xmlns:a="http://schemas.openxmlformats.org/drawingml/2006/main">
              <a:ext uri="{FF2B5EF4-FFF2-40B4-BE49-F238E27FC236}">
                <a16:creationId xmlns:a16="http://schemas.microsoft.com/office/drawing/2014/main" id="{1EA86EA9-CAE4-4C77-919A-308DC320E2D2}"/>
              </a:ext>
            </a:extLst>
          </p:cNvPr>
          <p:cNvSpPr>
            <a:spLocks xmlns:a="http://schemas.openxmlformats.org/drawingml/2006/main" noGrp="1"/>
          </p:cNvSpPr>
          <p:nvPr/>
        </p:nvSpPr>
        <p:spPr>
          <a:xfrm xmlns:a="http://schemas.openxmlformats.org/drawingml/2006/main">
            <a:off x="3286125" y="2533650"/>
            <a:ext cx="228600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Website</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Next.js + proxy</a:t>
            </a:r>
          </a:p>
        </p:txBody>
      </p:sp>
      <p:sp>
        <p:nvSpPr>
          <p:cNvPr id="7" name="Data API FastAPI">
            <a:extLst xmlns:a="http://schemas.openxmlformats.org/drawingml/2006/main">
              <a:ext uri="{FF2B5EF4-FFF2-40B4-BE49-F238E27FC236}">
                <a16:creationId xmlns:a16="http://schemas.microsoft.com/office/drawing/2014/main" id="{F98BD009-4FEE-4E9C-B1E1-ED0ECA68EBCB}"/>
              </a:ext>
            </a:extLst>
          </p:cNvPr>
          <p:cNvSpPr>
            <a:spLocks xmlns:a="http://schemas.openxmlformats.org/drawingml/2006/main" noGrp="1"/>
          </p:cNvSpPr>
          <p:nvPr/>
        </p:nvSpPr>
        <p:spPr>
          <a:xfrm xmlns:a="http://schemas.openxmlformats.org/drawingml/2006/main">
            <a:off x="6334125" y="2533650"/>
            <a:ext cx="1952625"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Data API</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FastAPI</a:t>
            </a:r>
          </a:p>
        </p:txBody>
      </p:sp>
      <p:sp>
        <p:nvSpPr>
          <p:cNvPr id="8" name="Database PostGIS">
            <a:extLst xmlns:a="http://schemas.openxmlformats.org/drawingml/2006/main">
              <a:ext uri="{FF2B5EF4-FFF2-40B4-BE49-F238E27FC236}">
                <a16:creationId xmlns:a16="http://schemas.microsoft.com/office/drawing/2014/main" id="{5937F871-6BB0-4E51-86C1-C3B098CA2CD6}"/>
              </a:ext>
            </a:extLst>
          </p:cNvPr>
          <p:cNvSpPr>
            <a:spLocks xmlns:a="http://schemas.openxmlformats.org/drawingml/2006/main" noGrp="1"/>
          </p:cNvSpPr>
          <p:nvPr/>
        </p:nvSpPr>
        <p:spPr>
          <a:xfrm xmlns:a="http://schemas.openxmlformats.org/drawingml/2006/main">
            <a:off x="9048750" y="2533650"/>
            <a:ext cx="2143125"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Database</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PostGIS</a:t>
            </a:r>
          </a:p>
        </p:txBody>
      </p:sp>
      <p:sp>
        <p:nvSpPr>
          <p:cNvPr id="12" name="">
            <a:extLst xmlns:a="http://schemas.openxmlformats.org/drawingml/2006/main">
              <a:ext uri="{FF2B5EF4-FFF2-40B4-BE49-F238E27FC236}">
                <a16:creationId xmlns:a16="http://schemas.microsoft.com/office/drawing/2014/main" id="{F7D74CE7-A774-481B-8A57-89AB095F782F}"/>
              </a:ext>
            </a:extLst>
          </p:cNvPr>
          <p:cNvSpPr>
            <a:spLocks xmlns:a="http://schemas.openxmlformats.org/drawingml/2006/main" noGrp="1"/>
          </p:cNvSpPr>
          <p:nvPr/>
        </p:nvSpPr>
        <p:spPr>
          <a:xfrm xmlns:a="http://schemas.openxmlformats.org/drawingml/2006/main">
            <a:off x="685800" y="4352925"/>
            <a:ext cx="107632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52D3A"/>
                </a:solidFill>
                <a:latin typeface="Arial"/>
                <a:ea typeface="Arial"/>
                <a:cs typeface="Arial"/>
              </a:defRPr>
            </a:defPPr>
            <a:lvl1pPr algn="l">
              <a:defRPr sz="1875" b="0">
                <a:solidFill>
                  <a:srgbClr val="152D3A"/>
                </a:solidFill>
                <a:latin typeface="Arial"/>
                <a:ea typeface="Arial"/>
                <a:cs typeface="Arial"/>
              </a:defRPr>
            </a:lvl1pPr>
            <a:lvl2pPr algn="l">
              <a:defRPr sz="1875" b="0">
                <a:solidFill>
                  <a:srgbClr val="152D3A"/>
                </a:solidFill>
                <a:latin typeface="Arial"/>
                <a:ea typeface="Arial"/>
                <a:cs typeface="Arial"/>
              </a:defRPr>
            </a:lvl2pPr>
            <a:lvl3pPr algn="l">
              <a:defRPr sz="1875" b="0">
                <a:solidFill>
                  <a:srgbClr val="152D3A"/>
                </a:solidFill>
                <a:latin typeface="Arial"/>
                <a:ea typeface="Arial"/>
                <a:cs typeface="Arial"/>
              </a:defRPr>
            </a:lvl3pPr>
            <a:lvl4pPr algn="l">
              <a:defRPr sz="1875" b="0">
                <a:solidFill>
                  <a:srgbClr val="152D3A"/>
                </a:solidFill>
                <a:latin typeface="Arial"/>
                <a:ea typeface="Arial"/>
                <a:cs typeface="Arial"/>
              </a:defRPr>
            </a:lvl4pPr>
            <a:lvl5pPr algn="l">
              <a:defRPr sz="1875" b="0">
                <a:solidFill>
                  <a:srgbClr val="152D3A"/>
                </a:solidFill>
                <a:latin typeface="Arial"/>
                <a:ea typeface="Arial"/>
                <a:cs typeface="Arial"/>
              </a:defRPr>
            </a:lvl5pPr>
            <a:lvl6pPr algn="l">
              <a:defRPr sz="1875" b="0">
                <a:solidFill>
                  <a:srgbClr val="152D3A"/>
                </a:solidFill>
                <a:latin typeface="Arial"/>
                <a:ea typeface="Arial"/>
                <a:cs typeface="Arial"/>
              </a:defRPr>
            </a:lvl6pPr>
            <a:lvl7pPr algn="l">
              <a:defRPr sz="1875" b="0">
                <a:solidFill>
                  <a:srgbClr val="152D3A"/>
                </a:solidFill>
                <a:latin typeface="Arial"/>
                <a:ea typeface="Arial"/>
                <a:cs typeface="Arial"/>
              </a:defRPr>
            </a:lvl7pPr>
            <a:lvl8pPr algn="l">
              <a:defRPr sz="1875" b="0">
                <a:solidFill>
                  <a:srgbClr val="152D3A"/>
                </a:solidFill>
                <a:latin typeface="Arial"/>
                <a:ea typeface="Arial"/>
                <a:cs typeface="Arial"/>
              </a:defRPr>
            </a:lvl8pPr>
            <a:lvl9pPr algn="l">
              <a:defRPr sz="1875" b="0">
                <a:solidFill>
                  <a:srgbClr val="152D3A"/>
                </a:solidFill>
                <a:latin typeface="Arial"/>
                <a:ea typeface="Arial"/>
                <a:cs typeface="Arial"/>
              </a:defRPr>
            </a:lvl9pPr>
          </a:lstStyle>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CSV loading and all application services run on one computer.</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The main website now queries local PostGIS through FastAPI.</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62 Python tests and 21 smoke checks passed.</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Full dataset loading and performance checks remain.</a:t>
            </a:r>
          </a:p>
        </p:txBody>
      </p:sp>
      <p:sp>
        <p:nvSpPr>
          <p:cNvPr id="13" name="">
            <a:extLst xmlns:a="http://schemas.openxmlformats.org/drawingml/2006/main">
              <a:ext uri="{FF2B5EF4-FFF2-40B4-BE49-F238E27FC236}">
                <a16:creationId xmlns:a16="http://schemas.microsoft.com/office/drawing/2014/main" id="{E6AF270F-97E1-4CE5-94CD-921B0A9AB190}"/>
              </a:ext>
            </a:extLst>
          </p:cNvPr>
          <p:cNvSpPr>
            <a:spLocks xmlns:a="http://schemas.openxmlformats.org/drawingml/2006/main" noGrp="1"/>
          </p:cNvSpPr>
          <p:nvPr/>
        </p:nvSpPr>
        <p:spPr>
          <a:xfrm xmlns:a="http://schemas.openxmlformats.org/drawingml/2006/main">
            <a:off x="685800" y="6391275"/>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536673"/>
                </a:solidFill>
                <a:latin typeface="Arial"/>
                <a:ea typeface="Arial"/>
                <a:cs typeface="Arial"/>
              </a:defRPr>
            </a:defPPr>
            <a:lvl1pPr algn="l">
              <a:defRPr sz="1500" b="0">
                <a:solidFill>
                  <a:srgbClr val="536673"/>
                </a:solidFill>
                <a:latin typeface="Arial"/>
                <a:ea typeface="Arial"/>
                <a:cs typeface="Arial"/>
              </a:defRPr>
            </a:lvl1pPr>
            <a:lvl2pPr algn="l">
              <a:defRPr sz="1500" b="0">
                <a:solidFill>
                  <a:srgbClr val="536673"/>
                </a:solidFill>
                <a:latin typeface="Arial"/>
                <a:ea typeface="Arial"/>
                <a:cs typeface="Arial"/>
              </a:defRPr>
            </a:lvl2pPr>
            <a:lvl3pPr algn="l">
              <a:defRPr sz="1500" b="0">
                <a:solidFill>
                  <a:srgbClr val="536673"/>
                </a:solidFill>
                <a:latin typeface="Arial"/>
                <a:ea typeface="Arial"/>
                <a:cs typeface="Arial"/>
              </a:defRPr>
            </a:lvl3pPr>
            <a:lvl4pPr algn="l">
              <a:defRPr sz="1500" b="0">
                <a:solidFill>
                  <a:srgbClr val="536673"/>
                </a:solidFill>
                <a:latin typeface="Arial"/>
                <a:ea typeface="Arial"/>
                <a:cs typeface="Arial"/>
              </a:defRPr>
            </a:lvl4pPr>
            <a:lvl5pPr algn="l">
              <a:defRPr sz="1500" b="0">
                <a:solidFill>
                  <a:srgbClr val="536673"/>
                </a:solidFill>
                <a:latin typeface="Arial"/>
                <a:ea typeface="Arial"/>
                <a:cs typeface="Arial"/>
              </a:defRPr>
            </a:lvl5pPr>
            <a:lvl6pPr algn="l">
              <a:defRPr sz="1500" b="0">
                <a:solidFill>
                  <a:srgbClr val="536673"/>
                </a:solidFill>
                <a:latin typeface="Arial"/>
                <a:ea typeface="Arial"/>
                <a:cs typeface="Arial"/>
              </a:defRPr>
            </a:lvl6pPr>
            <a:lvl7pPr algn="l">
              <a:defRPr sz="1500" b="0">
                <a:solidFill>
                  <a:srgbClr val="536673"/>
                </a:solidFill>
                <a:latin typeface="Arial"/>
                <a:ea typeface="Arial"/>
                <a:cs typeface="Arial"/>
              </a:defRPr>
            </a:lvl7pPr>
            <a:lvl8pPr algn="l">
              <a:defRPr sz="1500" b="0">
                <a:solidFill>
                  <a:srgbClr val="536673"/>
                </a:solidFill>
                <a:latin typeface="Arial"/>
                <a:ea typeface="Arial"/>
                <a:cs typeface="Arial"/>
              </a:defRPr>
            </a:lvl8pPr>
            <a:lvl9pPr algn="l">
              <a:defRPr sz="1500" b="0">
                <a:solidFill>
                  <a:srgbClr val="536673"/>
                </a:solidFill>
                <a:latin typeface="Arial"/>
                <a:ea typeface="Arial"/>
                <a:cs typeface="Arial"/>
              </a:defRPr>
            </a:lvl9pPr>
          </a:lstStyle>
          <a:p xmlns:a="http://schemas.openxmlformats.org/drawingml/2006/main">
            <a:pPr algn="l">
              <a:defRPr sz="1500" b="0">
                <a:solidFill>
                  <a:srgbClr val="536673"/>
                </a:solidFill>
                <a:latin typeface="Arial"/>
                <a:ea typeface="Arial"/>
                <a:cs typeface="Arial"/>
              </a:defRPr>
            </a:pPr>
            <a:r>
              <a:rPr sz="1500" b="0">
                <a:solidFill>
                  <a:srgbClr val="536673"/>
                </a:solidFill>
                <a:latin typeface="Arial"/>
                <a:ea typeface="Arial"/>
                <a:cs typeface="Arial"/>
              </a:rPr>
              <a:t>Map markers stop at 1,000; summary totals include every match in the loaded dataset.</a:t>
            </a:r>
          </a:p>
        </p:txBody>
      </p:sp>
    </p:spTree>
    <p:extLst>
      <p:ext uri="{BB962C8B-B14F-4D97-AF65-F5344CB8AC3E}">
        <p14:creationId xmlns:p14="http://schemas.microsoft.com/office/powerpoint/2010/main" val="1912464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B9755E6-407C-4F33-B5DC-18648C16A9BE}"/>
              </a:ext>
            </a:extLst>
          </p:cNvPr>
          <p:cNvCxnSpPr>
            <a:stCxn xmlns:a="http://schemas.openxmlformats.org/drawingml/2006/main" id="9" idx="3"/>
            <a:endCxn xmlns:a="http://schemas.openxmlformats.org/drawingml/2006/main" id="10" idx="1"/>
          </p:cNvCxnSpPr>
          <p:nvPr/>
        </p:nvCxnSpPr>
        <p:spPr>
          <a:xfrm xmlns:a="http://schemas.openxmlformats.org/drawingml/2006/main">
            <a:off x="8858250" y="2952750"/>
            <a:ext cx="666750" cy="0"/>
          </a:xfrm>
          <a:prstGeom xmlns:a="http://schemas.openxmlformats.org/drawingml/2006/main" prst="straightConnector1">
            <a:avLst/>
          </a:prstGeom>
          <a:ln xmlns:a="http://schemas.openxmlformats.org/drawingml/2006/main" w="19050">
            <a:solidFill>
              <a:srgbClr val="356AA5"/>
            </a:solidFill>
            <a:tailEnd type="arrow" w="med" len="med"/>
          </a:ln>
        </p:spPr>
      </p:cxnSp>
      <p:cxnSp>
        <p:nvCxnSpPr>
          <p:cNvPr id="12" name="">
            <a:extLst xmlns:a="http://schemas.openxmlformats.org/drawingml/2006/main">
              <a:ext uri="{FF2B5EF4-FFF2-40B4-BE49-F238E27FC236}">
                <a16:creationId xmlns:a16="http://schemas.microsoft.com/office/drawing/2014/main" id="{B4F4F186-A422-44D1-B360-A394C29BB20F}"/>
              </a:ext>
            </a:extLst>
          </p:cNvPr>
          <p:cNvCxnSpPr>
            <a:stCxn xmlns:a="http://schemas.openxmlformats.org/drawingml/2006/main" id="8" idx="3"/>
            <a:endCxn xmlns:a="http://schemas.openxmlformats.org/drawingml/2006/main" id="9" idx="1"/>
          </p:cNvCxnSpPr>
          <p:nvPr/>
        </p:nvCxnSpPr>
        <p:spPr>
          <a:xfrm xmlns:a="http://schemas.openxmlformats.org/drawingml/2006/main">
            <a:off x="5429250" y="2952750"/>
            <a:ext cx="1685925" cy="0"/>
          </a:xfrm>
          <a:prstGeom xmlns:a="http://schemas.openxmlformats.org/drawingml/2006/main" prst="straightConnector1">
            <a:avLst/>
          </a:prstGeom>
          <a:ln xmlns:a="http://schemas.openxmlformats.org/drawingml/2006/main" w="19050">
            <a:solidFill>
              <a:srgbClr val="356AA5"/>
            </a:solidFill>
            <a:tailEnd type="arrow" w="med" len="med"/>
          </a:ln>
        </p:spPr>
      </p:cxnSp>
      <p:cxnSp>
        <p:nvCxnSpPr>
          <p:cNvPr id="11" name="">
            <a:extLst xmlns:a="http://schemas.openxmlformats.org/drawingml/2006/main">
              <a:ext uri="{FF2B5EF4-FFF2-40B4-BE49-F238E27FC236}">
                <a16:creationId xmlns:a16="http://schemas.microsoft.com/office/drawing/2014/main" id="{05AE1318-E01F-40C1-B4AB-30004AEC43E8}"/>
              </a:ext>
            </a:extLst>
          </p:cNvPr>
          <p:cNvCxnSpPr>
            <a:stCxn xmlns:a="http://schemas.openxmlformats.org/drawingml/2006/main" id="7" idx="3"/>
            <a:endCxn xmlns:a="http://schemas.openxmlformats.org/drawingml/2006/main" id="8" idx="1"/>
          </p:cNvCxnSpPr>
          <p:nvPr/>
        </p:nvCxnSpPr>
        <p:spPr>
          <a:xfrm xmlns:a="http://schemas.openxmlformats.org/drawingml/2006/main">
            <a:off x="2428875" y="2952750"/>
            <a:ext cx="666750" cy="0"/>
          </a:xfrm>
          <a:prstGeom xmlns:a="http://schemas.openxmlformats.org/drawingml/2006/main" prst="straightConnector1">
            <a:avLst/>
          </a:prstGeom>
          <a:ln xmlns:a="http://schemas.openxmlformats.org/drawingml/2006/main" w="19050">
            <a:solidFill>
              <a:srgbClr val="152D3A"/>
            </a:solidFill>
            <a:tailEnd type="arrow" w="med" len="med"/>
          </a:ln>
        </p:spPr>
      </p:cxnSp>
      <p:sp>
        <p:nvSpPr>
          <p:cNvPr id="17" name="">
            <a:extLst xmlns:a="http://schemas.openxmlformats.org/drawingml/2006/main">
              <a:ext uri="{FF2B5EF4-FFF2-40B4-BE49-F238E27FC236}">
                <a16:creationId xmlns:a16="http://schemas.microsoft.com/office/drawing/2014/main" id="{258EACCA-4C49-4C02-AF71-6DA0D9CE7D81}"/>
              </a:ext>
            </a:extLst>
          </p:cNvPr>
          <p:cNvSpPr>
            <a:spLocks xmlns:a="http://schemas.openxmlformats.org/drawingml/2006/main" noGrp="1"/>
          </p:cNvSpPr>
          <p:nvPr/>
        </p:nvSpPr>
        <p:spPr>
          <a:xfrm xmlns:a="http://schemas.openxmlformats.org/drawingml/2006/main">
            <a:off x="533400" y="38100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152D3A"/>
                </a:solidFill>
                <a:latin typeface="Arial"/>
                <a:ea typeface="Arial"/>
                <a:cs typeface="Arial"/>
              </a:defRPr>
            </a:defPPr>
            <a:lvl1pPr algn="l">
              <a:defRPr sz="3300" b="1">
                <a:solidFill>
                  <a:srgbClr val="152D3A"/>
                </a:solidFill>
                <a:latin typeface="Arial"/>
                <a:ea typeface="Arial"/>
                <a:cs typeface="Arial"/>
              </a:defRPr>
            </a:lvl1pPr>
            <a:lvl2pPr algn="l">
              <a:defRPr sz="3300" b="1">
                <a:solidFill>
                  <a:srgbClr val="152D3A"/>
                </a:solidFill>
                <a:latin typeface="Arial"/>
                <a:ea typeface="Arial"/>
                <a:cs typeface="Arial"/>
              </a:defRPr>
            </a:lvl2pPr>
            <a:lvl3pPr algn="l">
              <a:defRPr sz="3300" b="1">
                <a:solidFill>
                  <a:srgbClr val="152D3A"/>
                </a:solidFill>
                <a:latin typeface="Arial"/>
                <a:ea typeface="Arial"/>
                <a:cs typeface="Arial"/>
              </a:defRPr>
            </a:lvl3pPr>
            <a:lvl4pPr algn="l">
              <a:defRPr sz="3300" b="1">
                <a:solidFill>
                  <a:srgbClr val="152D3A"/>
                </a:solidFill>
                <a:latin typeface="Arial"/>
                <a:ea typeface="Arial"/>
                <a:cs typeface="Arial"/>
              </a:defRPr>
            </a:lvl4pPr>
            <a:lvl5pPr algn="l">
              <a:defRPr sz="3300" b="1">
                <a:solidFill>
                  <a:srgbClr val="152D3A"/>
                </a:solidFill>
                <a:latin typeface="Arial"/>
                <a:ea typeface="Arial"/>
                <a:cs typeface="Arial"/>
              </a:defRPr>
            </a:lvl5pPr>
            <a:lvl6pPr algn="l">
              <a:defRPr sz="3300" b="1">
                <a:solidFill>
                  <a:srgbClr val="152D3A"/>
                </a:solidFill>
                <a:latin typeface="Arial"/>
                <a:ea typeface="Arial"/>
                <a:cs typeface="Arial"/>
              </a:defRPr>
            </a:lvl6pPr>
            <a:lvl7pPr algn="l">
              <a:defRPr sz="3300" b="1">
                <a:solidFill>
                  <a:srgbClr val="152D3A"/>
                </a:solidFill>
                <a:latin typeface="Arial"/>
                <a:ea typeface="Arial"/>
                <a:cs typeface="Arial"/>
              </a:defRPr>
            </a:lvl7pPr>
            <a:lvl8pPr algn="l">
              <a:defRPr sz="3300" b="1">
                <a:solidFill>
                  <a:srgbClr val="152D3A"/>
                </a:solidFill>
                <a:latin typeface="Arial"/>
                <a:ea typeface="Arial"/>
                <a:cs typeface="Arial"/>
              </a:defRPr>
            </a:lvl8pPr>
            <a:lvl9pPr algn="l">
              <a:defRPr sz="3300" b="1">
                <a:solidFill>
                  <a:srgbClr val="152D3A"/>
                </a:solidFill>
                <a:latin typeface="Arial"/>
                <a:ea typeface="Arial"/>
                <a:cs typeface="Arial"/>
              </a:defRPr>
            </a:lvl9pPr>
          </a:lstStyle>
          <a:p xmlns:a="http://schemas.openxmlformats.org/drawingml/2006/main">
            <a:pPr algn="l">
              <a:defRPr sz="3300" b="1">
                <a:solidFill>
                  <a:srgbClr val="152D3A"/>
                </a:solidFill>
                <a:latin typeface="Arial"/>
                <a:ea typeface="Arial"/>
                <a:cs typeface="Arial"/>
              </a:defRPr>
            </a:pPr>
            <a:r>
              <a:rPr sz="3300" b="1">
                <a:solidFill>
                  <a:srgbClr val="152D3A"/>
                </a:solidFill>
                <a:latin typeface="Arial"/>
                <a:ea typeface="Arial"/>
                <a:cs typeface="Arial"/>
              </a:rPr>
              <a:t>2. Local website + cloud database</a:t>
            </a:r>
          </a:p>
        </p:txBody>
      </p:sp>
      <p:sp>
        <p:nvSpPr>
          <p:cNvPr id="2" name="">
            <a:extLst xmlns:a="http://schemas.openxmlformats.org/drawingml/2006/main">
              <a:ext uri="{FF2B5EF4-FFF2-40B4-BE49-F238E27FC236}">
                <a16:creationId xmlns:a16="http://schemas.microsoft.com/office/drawing/2014/main" id="{FB325FDC-16E0-41FF-BA7A-DE764E9E3114}"/>
              </a:ext>
            </a:extLst>
          </p:cNvPr>
          <p:cNvSpPr>
            <a:spLocks xmlns:a="http://schemas.openxmlformats.org/drawingml/2006/main" noGrp="1"/>
          </p:cNvSpPr>
          <p:nvPr/>
        </p:nvSpPr>
        <p:spPr>
          <a:xfrm xmlns:a="http://schemas.openxmlformats.org/drawingml/2006/main">
            <a:off x="552450" y="1133475"/>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356AA5"/>
                </a:solidFill>
                <a:latin typeface="Arial"/>
                <a:ea typeface="Arial"/>
                <a:cs typeface="Arial"/>
              </a:defRPr>
            </a:defPPr>
            <a:lvl1pPr algn="l">
              <a:defRPr sz="1875" b="0">
                <a:solidFill>
                  <a:srgbClr val="356AA5"/>
                </a:solidFill>
                <a:latin typeface="Arial"/>
                <a:ea typeface="Arial"/>
                <a:cs typeface="Arial"/>
              </a:defRPr>
            </a:lvl1pPr>
            <a:lvl2pPr algn="l">
              <a:defRPr sz="1875" b="0">
                <a:solidFill>
                  <a:srgbClr val="356AA5"/>
                </a:solidFill>
                <a:latin typeface="Arial"/>
                <a:ea typeface="Arial"/>
                <a:cs typeface="Arial"/>
              </a:defRPr>
            </a:lvl2pPr>
            <a:lvl3pPr algn="l">
              <a:defRPr sz="1875" b="0">
                <a:solidFill>
                  <a:srgbClr val="356AA5"/>
                </a:solidFill>
                <a:latin typeface="Arial"/>
                <a:ea typeface="Arial"/>
                <a:cs typeface="Arial"/>
              </a:defRPr>
            </a:lvl3pPr>
            <a:lvl4pPr algn="l">
              <a:defRPr sz="1875" b="0">
                <a:solidFill>
                  <a:srgbClr val="356AA5"/>
                </a:solidFill>
                <a:latin typeface="Arial"/>
                <a:ea typeface="Arial"/>
                <a:cs typeface="Arial"/>
              </a:defRPr>
            </a:lvl4pPr>
            <a:lvl5pPr algn="l">
              <a:defRPr sz="1875" b="0">
                <a:solidFill>
                  <a:srgbClr val="356AA5"/>
                </a:solidFill>
                <a:latin typeface="Arial"/>
                <a:ea typeface="Arial"/>
                <a:cs typeface="Arial"/>
              </a:defRPr>
            </a:lvl5pPr>
            <a:lvl6pPr algn="l">
              <a:defRPr sz="1875" b="0">
                <a:solidFill>
                  <a:srgbClr val="356AA5"/>
                </a:solidFill>
                <a:latin typeface="Arial"/>
                <a:ea typeface="Arial"/>
                <a:cs typeface="Arial"/>
              </a:defRPr>
            </a:lvl6pPr>
            <a:lvl7pPr algn="l">
              <a:defRPr sz="1875" b="0">
                <a:solidFill>
                  <a:srgbClr val="356AA5"/>
                </a:solidFill>
                <a:latin typeface="Arial"/>
                <a:ea typeface="Arial"/>
                <a:cs typeface="Arial"/>
              </a:defRPr>
            </a:lvl7pPr>
            <a:lvl8pPr algn="l">
              <a:defRPr sz="1875" b="0">
                <a:solidFill>
                  <a:srgbClr val="356AA5"/>
                </a:solidFill>
                <a:latin typeface="Arial"/>
                <a:ea typeface="Arial"/>
                <a:cs typeface="Arial"/>
              </a:defRPr>
            </a:lvl8pPr>
            <a:lvl9pPr algn="l">
              <a:defRPr sz="1875" b="0">
                <a:solidFill>
                  <a:srgbClr val="356AA5"/>
                </a:solidFill>
                <a:latin typeface="Arial"/>
                <a:ea typeface="Arial"/>
                <a:cs typeface="Arial"/>
              </a:defRPr>
            </a:lvl9pPr>
          </a:lstStyle>
          <a:p xmlns:a="http://schemas.openxmlformats.org/drawingml/2006/main">
            <a:pPr algn="l">
              <a:defRPr sz="1875" b="0">
                <a:solidFill>
                  <a:srgbClr val="356AA5"/>
                </a:solidFill>
                <a:latin typeface="Arial"/>
                <a:ea typeface="Arial"/>
                <a:cs typeface="Arial"/>
              </a:defRPr>
            </a:pPr>
            <a:r>
              <a:rPr sz="1875" b="0">
                <a:solidFill>
                  <a:srgbClr val="356AA5"/>
                </a:solidFill>
                <a:latin typeface="Arial"/>
                <a:ea typeface="Arial"/>
                <a:cs typeface="Arial"/>
              </a:rPr>
              <a:t>Planned; configuration template prepared</a:t>
            </a:r>
          </a:p>
        </p:txBody>
      </p:sp>
      <p:sp>
        <p:nvSpPr>
          <p:cNvPr id="3" name="DEVELOPER'S COMPUTER">
            <a:extLst xmlns:a="http://schemas.openxmlformats.org/drawingml/2006/main">
              <a:ext uri="{FF2B5EF4-FFF2-40B4-BE49-F238E27FC236}">
                <a16:creationId xmlns:a16="http://schemas.microsoft.com/office/drawing/2014/main" id="{BE02B5DC-68EC-4096-92B0-892BF82D9A18}"/>
              </a:ext>
            </a:extLst>
          </p:cNvPr>
          <p:cNvSpPr>
            <a:spLocks xmlns:a="http://schemas.openxmlformats.org/drawingml/2006/main" noGrp="1"/>
          </p:cNvSpPr>
          <p:nvPr/>
        </p:nvSpPr>
        <p:spPr>
          <a:xfrm xmlns:a="http://schemas.openxmlformats.org/drawingml/2006/main">
            <a:off x="523875" y="1771650"/>
            <a:ext cx="5495925" cy="2209800"/>
          </a:xfrm>
          <a:prstGeom xmlns:a="http://schemas.openxmlformats.org/drawingml/2006/main" prst="rect">
            <a:avLst/>
          </a:prstGeom>
          <a:noFill xmlns:a="http://schemas.openxmlformats.org/drawingml/2006/main"/>
          <a:ln xmlns:a="http://schemas.openxmlformats.org/drawingml/2006/main" w="14288">
            <a:solidFill>
              <a:srgbClr val="087E70"/>
            </a:solidFill>
          </a:ln>
        </p:spPr>
      </p:sp>
      <p:sp>
        <p:nvSpPr>
          <p:cNvPr id="4" name="">
            <a:extLst xmlns:a="http://schemas.openxmlformats.org/drawingml/2006/main">
              <a:ext uri="{FF2B5EF4-FFF2-40B4-BE49-F238E27FC236}">
                <a16:creationId xmlns:a16="http://schemas.microsoft.com/office/drawing/2014/main" id="{42C696A2-7D5A-4E24-A967-451557983F5E}"/>
              </a:ext>
            </a:extLst>
          </p:cNvPr>
          <p:cNvSpPr>
            <a:spLocks xmlns:a="http://schemas.openxmlformats.org/drawingml/2006/main" noGrp="1"/>
          </p:cNvSpPr>
          <p:nvPr/>
        </p:nvSpPr>
        <p:spPr>
          <a:xfrm xmlns:a="http://schemas.openxmlformats.org/drawingml/2006/main">
            <a:off x="695325" y="1876425"/>
            <a:ext cx="5153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1">
                <a:solidFill>
                  <a:srgbClr val="087E70"/>
                </a:solidFill>
                <a:latin typeface="Arial"/>
                <a:ea typeface="Arial"/>
                <a:cs typeface="Arial"/>
              </a:defRPr>
            </a:defPPr>
            <a:lvl1pPr algn="l">
              <a:defRPr sz="1425" b="1">
                <a:solidFill>
                  <a:srgbClr val="087E70"/>
                </a:solidFill>
                <a:latin typeface="Arial"/>
                <a:ea typeface="Arial"/>
                <a:cs typeface="Arial"/>
              </a:defRPr>
            </a:lvl1pPr>
            <a:lvl2pPr algn="l">
              <a:defRPr sz="1425" b="1">
                <a:solidFill>
                  <a:srgbClr val="087E70"/>
                </a:solidFill>
                <a:latin typeface="Arial"/>
                <a:ea typeface="Arial"/>
                <a:cs typeface="Arial"/>
              </a:defRPr>
            </a:lvl2pPr>
            <a:lvl3pPr algn="l">
              <a:defRPr sz="1425" b="1">
                <a:solidFill>
                  <a:srgbClr val="087E70"/>
                </a:solidFill>
                <a:latin typeface="Arial"/>
                <a:ea typeface="Arial"/>
                <a:cs typeface="Arial"/>
              </a:defRPr>
            </a:lvl3pPr>
            <a:lvl4pPr algn="l">
              <a:defRPr sz="1425" b="1">
                <a:solidFill>
                  <a:srgbClr val="087E70"/>
                </a:solidFill>
                <a:latin typeface="Arial"/>
                <a:ea typeface="Arial"/>
                <a:cs typeface="Arial"/>
              </a:defRPr>
            </a:lvl4pPr>
            <a:lvl5pPr algn="l">
              <a:defRPr sz="1425" b="1">
                <a:solidFill>
                  <a:srgbClr val="087E70"/>
                </a:solidFill>
                <a:latin typeface="Arial"/>
                <a:ea typeface="Arial"/>
                <a:cs typeface="Arial"/>
              </a:defRPr>
            </a:lvl5pPr>
            <a:lvl6pPr algn="l">
              <a:defRPr sz="1425" b="1">
                <a:solidFill>
                  <a:srgbClr val="087E70"/>
                </a:solidFill>
                <a:latin typeface="Arial"/>
                <a:ea typeface="Arial"/>
                <a:cs typeface="Arial"/>
              </a:defRPr>
            </a:lvl6pPr>
            <a:lvl7pPr algn="l">
              <a:defRPr sz="1425" b="1">
                <a:solidFill>
                  <a:srgbClr val="087E70"/>
                </a:solidFill>
                <a:latin typeface="Arial"/>
                <a:ea typeface="Arial"/>
                <a:cs typeface="Arial"/>
              </a:defRPr>
            </a:lvl7pPr>
            <a:lvl8pPr algn="l">
              <a:defRPr sz="1425" b="1">
                <a:solidFill>
                  <a:srgbClr val="087E70"/>
                </a:solidFill>
                <a:latin typeface="Arial"/>
                <a:ea typeface="Arial"/>
                <a:cs typeface="Arial"/>
              </a:defRPr>
            </a:lvl8pPr>
            <a:lvl9pPr algn="l">
              <a:defRPr sz="1425" b="1">
                <a:solidFill>
                  <a:srgbClr val="087E70"/>
                </a:solidFill>
                <a:latin typeface="Arial"/>
                <a:ea typeface="Arial"/>
                <a:cs typeface="Arial"/>
              </a:defRPr>
            </a:lvl9pPr>
          </a:lstStyle>
          <a:p xmlns:a="http://schemas.openxmlformats.org/drawingml/2006/main">
            <a:pPr algn="l">
              <a:defRPr sz="1425" b="1">
                <a:solidFill>
                  <a:srgbClr val="087E70"/>
                </a:solidFill>
                <a:latin typeface="Arial"/>
                <a:ea typeface="Arial"/>
                <a:cs typeface="Arial"/>
              </a:defRPr>
            </a:pPr>
            <a:r>
              <a:rPr sz="1425" b="1">
                <a:solidFill>
                  <a:srgbClr val="087E70"/>
                </a:solidFill>
                <a:latin typeface="Arial"/>
                <a:ea typeface="Arial"/>
                <a:cs typeface="Arial"/>
              </a:rPr>
              <a:t>DEVELOPER'S COMPUTER</a:t>
            </a:r>
          </a:p>
        </p:txBody>
      </p:sp>
      <p:sp>
        <p:nvSpPr>
          <p:cNvPr id="5" name="CLOUD — PLANNED">
            <a:extLst xmlns:a="http://schemas.openxmlformats.org/drawingml/2006/main">
              <a:ext uri="{FF2B5EF4-FFF2-40B4-BE49-F238E27FC236}">
                <a16:creationId xmlns:a16="http://schemas.microsoft.com/office/drawing/2014/main" id="{4E14F141-CAEF-4CD2-B7D1-B4ECCAF5F2F6}"/>
              </a:ext>
            </a:extLst>
          </p:cNvPr>
          <p:cNvSpPr>
            <a:spLocks xmlns:a="http://schemas.openxmlformats.org/drawingml/2006/main" noGrp="1"/>
          </p:cNvSpPr>
          <p:nvPr/>
        </p:nvSpPr>
        <p:spPr>
          <a:xfrm xmlns:a="http://schemas.openxmlformats.org/drawingml/2006/main">
            <a:off x="6762750" y="1771650"/>
            <a:ext cx="4905375" cy="2209800"/>
          </a:xfrm>
          <a:prstGeom xmlns:a="http://schemas.openxmlformats.org/drawingml/2006/main" prst="rect">
            <a:avLst/>
          </a:prstGeom>
          <a:noFill xmlns:a="http://schemas.openxmlformats.org/drawingml/2006/main"/>
          <a:ln xmlns:a="http://schemas.openxmlformats.org/drawingml/2006/main" w="14288">
            <a:solidFill>
              <a:srgbClr val="356AA5"/>
            </a:solidFill>
          </a:ln>
        </p:spPr>
      </p:sp>
      <p:sp>
        <p:nvSpPr>
          <p:cNvPr id="6" name="">
            <a:extLst xmlns:a="http://schemas.openxmlformats.org/drawingml/2006/main">
              <a:ext uri="{FF2B5EF4-FFF2-40B4-BE49-F238E27FC236}">
                <a16:creationId xmlns:a16="http://schemas.microsoft.com/office/drawing/2014/main" id="{B3E9F083-5A26-4076-8DB6-EF3CAEE933C1}"/>
              </a:ext>
            </a:extLst>
          </p:cNvPr>
          <p:cNvSpPr>
            <a:spLocks xmlns:a="http://schemas.openxmlformats.org/drawingml/2006/main" noGrp="1"/>
          </p:cNvSpPr>
          <p:nvPr/>
        </p:nvSpPr>
        <p:spPr>
          <a:xfrm xmlns:a="http://schemas.openxmlformats.org/drawingml/2006/main">
            <a:off x="6934200" y="1876425"/>
            <a:ext cx="45624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1">
                <a:solidFill>
                  <a:srgbClr val="356AA5"/>
                </a:solidFill>
                <a:latin typeface="Arial"/>
                <a:ea typeface="Arial"/>
                <a:cs typeface="Arial"/>
              </a:defRPr>
            </a:defPPr>
            <a:lvl1pPr algn="l">
              <a:defRPr sz="1425" b="1">
                <a:solidFill>
                  <a:srgbClr val="356AA5"/>
                </a:solidFill>
                <a:latin typeface="Arial"/>
                <a:ea typeface="Arial"/>
                <a:cs typeface="Arial"/>
              </a:defRPr>
            </a:lvl1pPr>
            <a:lvl2pPr algn="l">
              <a:defRPr sz="1425" b="1">
                <a:solidFill>
                  <a:srgbClr val="356AA5"/>
                </a:solidFill>
                <a:latin typeface="Arial"/>
                <a:ea typeface="Arial"/>
                <a:cs typeface="Arial"/>
              </a:defRPr>
            </a:lvl2pPr>
            <a:lvl3pPr algn="l">
              <a:defRPr sz="1425" b="1">
                <a:solidFill>
                  <a:srgbClr val="356AA5"/>
                </a:solidFill>
                <a:latin typeface="Arial"/>
                <a:ea typeface="Arial"/>
                <a:cs typeface="Arial"/>
              </a:defRPr>
            </a:lvl3pPr>
            <a:lvl4pPr algn="l">
              <a:defRPr sz="1425" b="1">
                <a:solidFill>
                  <a:srgbClr val="356AA5"/>
                </a:solidFill>
                <a:latin typeface="Arial"/>
                <a:ea typeface="Arial"/>
                <a:cs typeface="Arial"/>
              </a:defRPr>
            </a:lvl4pPr>
            <a:lvl5pPr algn="l">
              <a:defRPr sz="1425" b="1">
                <a:solidFill>
                  <a:srgbClr val="356AA5"/>
                </a:solidFill>
                <a:latin typeface="Arial"/>
                <a:ea typeface="Arial"/>
                <a:cs typeface="Arial"/>
              </a:defRPr>
            </a:lvl5pPr>
            <a:lvl6pPr algn="l">
              <a:defRPr sz="1425" b="1">
                <a:solidFill>
                  <a:srgbClr val="356AA5"/>
                </a:solidFill>
                <a:latin typeface="Arial"/>
                <a:ea typeface="Arial"/>
                <a:cs typeface="Arial"/>
              </a:defRPr>
            </a:lvl6pPr>
            <a:lvl7pPr algn="l">
              <a:defRPr sz="1425" b="1">
                <a:solidFill>
                  <a:srgbClr val="356AA5"/>
                </a:solidFill>
                <a:latin typeface="Arial"/>
                <a:ea typeface="Arial"/>
                <a:cs typeface="Arial"/>
              </a:defRPr>
            </a:lvl7pPr>
            <a:lvl8pPr algn="l">
              <a:defRPr sz="1425" b="1">
                <a:solidFill>
                  <a:srgbClr val="356AA5"/>
                </a:solidFill>
                <a:latin typeface="Arial"/>
                <a:ea typeface="Arial"/>
                <a:cs typeface="Arial"/>
              </a:defRPr>
            </a:lvl8pPr>
            <a:lvl9pPr algn="l">
              <a:defRPr sz="1425" b="1">
                <a:solidFill>
                  <a:srgbClr val="356AA5"/>
                </a:solidFill>
                <a:latin typeface="Arial"/>
                <a:ea typeface="Arial"/>
                <a:cs typeface="Arial"/>
              </a:defRPr>
            </a:lvl9pPr>
          </a:lstStyle>
          <a:p xmlns:a="http://schemas.openxmlformats.org/drawingml/2006/main">
            <a:pPr algn="l">
              <a:defRPr sz="1425" b="1">
                <a:solidFill>
                  <a:srgbClr val="356AA5"/>
                </a:solidFill>
                <a:latin typeface="Arial"/>
                <a:ea typeface="Arial"/>
                <a:cs typeface="Arial"/>
              </a:defRPr>
            </a:pPr>
            <a:r>
              <a:rPr sz="1425" b="1">
                <a:solidFill>
                  <a:srgbClr val="356AA5"/>
                </a:solidFill>
                <a:latin typeface="Arial"/>
                <a:ea typeface="Arial"/>
                <a:cs typeface="Arial"/>
              </a:rPr>
              <a:t>CLOUD — PLANNED</a:t>
            </a:r>
          </a:p>
        </p:txBody>
      </p:sp>
      <p:sp>
        <p:nvSpPr>
          <p:cNvPr id="7" name="Browser">
            <a:extLst xmlns:a="http://schemas.openxmlformats.org/drawingml/2006/main">
              <a:ext uri="{FF2B5EF4-FFF2-40B4-BE49-F238E27FC236}">
                <a16:creationId xmlns:a16="http://schemas.microsoft.com/office/drawing/2014/main" id="{006CE6B0-0B60-4886-A16C-534054504D8E}"/>
              </a:ext>
            </a:extLst>
          </p:cNvPr>
          <p:cNvSpPr>
            <a:spLocks xmlns:a="http://schemas.openxmlformats.org/drawingml/2006/main" noGrp="1"/>
          </p:cNvSpPr>
          <p:nvPr/>
        </p:nvSpPr>
        <p:spPr>
          <a:xfrm xmlns:a="http://schemas.openxmlformats.org/drawingml/2006/main">
            <a:off x="809625" y="2533650"/>
            <a:ext cx="161925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Browser</a:t>
            </a:r>
          </a:p>
        </p:txBody>
      </p:sp>
      <p:sp>
        <p:nvSpPr>
          <p:cNvPr id="8" name="Local website Next.js + proxy">
            <a:extLst xmlns:a="http://schemas.openxmlformats.org/drawingml/2006/main">
              <a:ext uri="{FF2B5EF4-FFF2-40B4-BE49-F238E27FC236}">
                <a16:creationId xmlns:a16="http://schemas.microsoft.com/office/drawing/2014/main" id="{2C55E2DC-C2E3-46B6-A28C-347101A0E3A6}"/>
              </a:ext>
            </a:extLst>
          </p:cNvPr>
          <p:cNvSpPr>
            <a:spLocks xmlns:a="http://schemas.openxmlformats.org/drawingml/2006/main" noGrp="1"/>
          </p:cNvSpPr>
          <p:nvPr/>
        </p:nvSpPr>
        <p:spPr>
          <a:xfrm xmlns:a="http://schemas.openxmlformats.org/drawingml/2006/main">
            <a:off x="3095625" y="2533650"/>
            <a:ext cx="2333625"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Local website</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Next.js + proxy</a:t>
            </a:r>
          </a:p>
        </p:txBody>
      </p:sp>
      <p:sp>
        <p:nvSpPr>
          <p:cNvPr id="9" name="Hosted API FastAPI">
            <a:extLst xmlns:a="http://schemas.openxmlformats.org/drawingml/2006/main">
              <a:ext uri="{FF2B5EF4-FFF2-40B4-BE49-F238E27FC236}">
                <a16:creationId xmlns:a16="http://schemas.microsoft.com/office/drawing/2014/main" id="{7C7DC608-D0E0-468F-9A7B-763052A893C3}"/>
              </a:ext>
            </a:extLst>
          </p:cNvPr>
          <p:cNvSpPr>
            <a:spLocks xmlns:a="http://schemas.openxmlformats.org/drawingml/2006/main" noGrp="1"/>
          </p:cNvSpPr>
          <p:nvPr/>
        </p:nvSpPr>
        <p:spPr>
          <a:xfrm xmlns:a="http://schemas.openxmlformats.org/drawingml/2006/main">
            <a:off x="7115175" y="2533650"/>
            <a:ext cx="1743075"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356AA5"/>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Hosted API</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FastAPI</a:t>
            </a:r>
          </a:p>
        </p:txBody>
      </p:sp>
      <p:sp>
        <p:nvSpPr>
          <p:cNvPr id="10" name="Private database PostGIS">
            <a:extLst xmlns:a="http://schemas.openxmlformats.org/drawingml/2006/main">
              <a:ext uri="{FF2B5EF4-FFF2-40B4-BE49-F238E27FC236}">
                <a16:creationId xmlns:a16="http://schemas.microsoft.com/office/drawing/2014/main" id="{16C710EF-98BA-4687-889A-CB55C0403581}"/>
              </a:ext>
            </a:extLst>
          </p:cNvPr>
          <p:cNvSpPr>
            <a:spLocks xmlns:a="http://schemas.openxmlformats.org/drawingml/2006/main" noGrp="1"/>
          </p:cNvSpPr>
          <p:nvPr/>
        </p:nvSpPr>
        <p:spPr>
          <a:xfrm xmlns:a="http://schemas.openxmlformats.org/drawingml/2006/main">
            <a:off x="9525000" y="2533650"/>
            <a:ext cx="1838325"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356AA5"/>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Private database</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PostGIS</a:t>
            </a:r>
          </a:p>
        </p:txBody>
      </p:sp>
      <p:sp>
        <p:nvSpPr>
          <p:cNvPr id="14" name="">
            <a:extLst xmlns:a="http://schemas.openxmlformats.org/drawingml/2006/main">
              <a:ext uri="{FF2B5EF4-FFF2-40B4-BE49-F238E27FC236}">
                <a16:creationId xmlns:a16="http://schemas.microsoft.com/office/drawing/2014/main" id="{F0C945D0-A348-41EF-A74F-9B630D3BF798}"/>
              </a:ext>
            </a:extLst>
          </p:cNvPr>
          <p:cNvSpPr>
            <a:spLocks xmlns:a="http://schemas.openxmlformats.org/drawingml/2006/main" noGrp="1"/>
          </p:cNvSpPr>
          <p:nvPr/>
        </p:nvSpPr>
        <p:spPr>
          <a:xfrm xmlns:a="http://schemas.openxmlformats.org/drawingml/2006/main">
            <a:off x="5562600" y="4000500"/>
            <a:ext cx="1504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50" b="0">
                <a:solidFill>
                  <a:srgbClr val="356AA5"/>
                </a:solidFill>
                <a:latin typeface="Arial"/>
                <a:ea typeface="Arial"/>
                <a:cs typeface="Arial"/>
              </a:defRPr>
            </a:defPPr>
            <a:lvl1pPr algn="ctr">
              <a:defRPr sz="1350" b="0">
                <a:solidFill>
                  <a:srgbClr val="356AA5"/>
                </a:solidFill>
                <a:latin typeface="Arial"/>
                <a:ea typeface="Arial"/>
                <a:cs typeface="Arial"/>
              </a:defRPr>
            </a:lvl1pPr>
            <a:lvl2pPr algn="ctr">
              <a:defRPr sz="1350" b="0">
                <a:solidFill>
                  <a:srgbClr val="356AA5"/>
                </a:solidFill>
                <a:latin typeface="Arial"/>
                <a:ea typeface="Arial"/>
                <a:cs typeface="Arial"/>
              </a:defRPr>
            </a:lvl2pPr>
            <a:lvl3pPr algn="ctr">
              <a:defRPr sz="1350" b="0">
                <a:solidFill>
                  <a:srgbClr val="356AA5"/>
                </a:solidFill>
                <a:latin typeface="Arial"/>
                <a:ea typeface="Arial"/>
                <a:cs typeface="Arial"/>
              </a:defRPr>
            </a:lvl3pPr>
            <a:lvl4pPr algn="ctr">
              <a:defRPr sz="1350" b="0">
                <a:solidFill>
                  <a:srgbClr val="356AA5"/>
                </a:solidFill>
                <a:latin typeface="Arial"/>
                <a:ea typeface="Arial"/>
                <a:cs typeface="Arial"/>
              </a:defRPr>
            </a:lvl4pPr>
            <a:lvl5pPr algn="ctr">
              <a:defRPr sz="1350" b="0">
                <a:solidFill>
                  <a:srgbClr val="356AA5"/>
                </a:solidFill>
                <a:latin typeface="Arial"/>
                <a:ea typeface="Arial"/>
                <a:cs typeface="Arial"/>
              </a:defRPr>
            </a:lvl5pPr>
            <a:lvl6pPr algn="ctr">
              <a:defRPr sz="1350" b="0">
                <a:solidFill>
                  <a:srgbClr val="356AA5"/>
                </a:solidFill>
                <a:latin typeface="Arial"/>
                <a:ea typeface="Arial"/>
                <a:cs typeface="Arial"/>
              </a:defRPr>
            </a:lvl6pPr>
            <a:lvl7pPr algn="ctr">
              <a:defRPr sz="1350" b="0">
                <a:solidFill>
                  <a:srgbClr val="356AA5"/>
                </a:solidFill>
                <a:latin typeface="Arial"/>
                <a:ea typeface="Arial"/>
                <a:cs typeface="Arial"/>
              </a:defRPr>
            </a:lvl7pPr>
            <a:lvl8pPr algn="ctr">
              <a:defRPr sz="1350" b="0">
                <a:solidFill>
                  <a:srgbClr val="356AA5"/>
                </a:solidFill>
                <a:latin typeface="Arial"/>
                <a:ea typeface="Arial"/>
                <a:cs typeface="Arial"/>
              </a:defRPr>
            </a:lvl8pPr>
            <a:lvl9pPr algn="ctr">
              <a:defRPr sz="1350" b="0">
                <a:solidFill>
                  <a:srgbClr val="356AA5"/>
                </a:solidFill>
                <a:latin typeface="Arial"/>
                <a:ea typeface="Arial"/>
                <a:cs typeface="Arial"/>
              </a:defRPr>
            </a:lvl9pPr>
          </a:lstStyle>
          <a:p xmlns:a="http://schemas.openxmlformats.org/drawingml/2006/main">
            <a:pPr algn="ctr">
              <a:defRPr sz="1350" b="0">
                <a:solidFill>
                  <a:srgbClr val="356AA5"/>
                </a:solidFill>
                <a:latin typeface="Arial"/>
                <a:ea typeface="Arial"/>
                <a:cs typeface="Arial"/>
              </a:defRPr>
            </a:pPr>
            <a:r>
              <a:rPr sz="1350" b="0">
                <a:solidFill>
                  <a:srgbClr val="356AA5"/>
                </a:solidFill>
                <a:latin typeface="Arial"/>
                <a:ea typeface="Arial"/>
                <a:cs typeface="Arial"/>
              </a:rPr>
              <a:t>HTTPS + API key</a:t>
            </a:r>
          </a:p>
        </p:txBody>
      </p:sp>
      <p:sp>
        <p:nvSpPr>
          <p:cNvPr id="15" name="">
            <a:extLst xmlns:a="http://schemas.openxmlformats.org/drawingml/2006/main">
              <a:ext uri="{FF2B5EF4-FFF2-40B4-BE49-F238E27FC236}">
                <a16:creationId xmlns:a16="http://schemas.microsoft.com/office/drawing/2014/main" id="{77115B69-9F4E-4F9D-8CB5-FDF1F2935164}"/>
              </a:ext>
            </a:extLst>
          </p:cNvPr>
          <p:cNvSpPr>
            <a:spLocks xmlns:a="http://schemas.openxmlformats.org/drawingml/2006/main" noGrp="1"/>
          </p:cNvSpPr>
          <p:nvPr/>
        </p:nvSpPr>
        <p:spPr>
          <a:xfrm xmlns:a="http://schemas.openxmlformats.org/drawingml/2006/main">
            <a:off x="685800" y="4352925"/>
            <a:ext cx="107632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52D3A"/>
                </a:solidFill>
                <a:latin typeface="Arial"/>
                <a:ea typeface="Arial"/>
                <a:cs typeface="Arial"/>
              </a:defRPr>
            </a:defPPr>
            <a:lvl1pPr algn="l">
              <a:defRPr sz="1875" b="0">
                <a:solidFill>
                  <a:srgbClr val="152D3A"/>
                </a:solidFill>
                <a:latin typeface="Arial"/>
                <a:ea typeface="Arial"/>
                <a:cs typeface="Arial"/>
              </a:defRPr>
            </a:lvl1pPr>
            <a:lvl2pPr algn="l">
              <a:defRPr sz="1875" b="0">
                <a:solidFill>
                  <a:srgbClr val="152D3A"/>
                </a:solidFill>
                <a:latin typeface="Arial"/>
                <a:ea typeface="Arial"/>
                <a:cs typeface="Arial"/>
              </a:defRPr>
            </a:lvl2pPr>
            <a:lvl3pPr algn="l">
              <a:defRPr sz="1875" b="0">
                <a:solidFill>
                  <a:srgbClr val="152D3A"/>
                </a:solidFill>
                <a:latin typeface="Arial"/>
                <a:ea typeface="Arial"/>
                <a:cs typeface="Arial"/>
              </a:defRPr>
            </a:lvl3pPr>
            <a:lvl4pPr algn="l">
              <a:defRPr sz="1875" b="0">
                <a:solidFill>
                  <a:srgbClr val="152D3A"/>
                </a:solidFill>
                <a:latin typeface="Arial"/>
                <a:ea typeface="Arial"/>
                <a:cs typeface="Arial"/>
              </a:defRPr>
            </a:lvl4pPr>
            <a:lvl5pPr algn="l">
              <a:defRPr sz="1875" b="0">
                <a:solidFill>
                  <a:srgbClr val="152D3A"/>
                </a:solidFill>
                <a:latin typeface="Arial"/>
                <a:ea typeface="Arial"/>
                <a:cs typeface="Arial"/>
              </a:defRPr>
            </a:lvl5pPr>
            <a:lvl6pPr algn="l">
              <a:defRPr sz="1875" b="0">
                <a:solidFill>
                  <a:srgbClr val="152D3A"/>
                </a:solidFill>
                <a:latin typeface="Arial"/>
                <a:ea typeface="Arial"/>
                <a:cs typeface="Arial"/>
              </a:defRPr>
            </a:lvl6pPr>
            <a:lvl7pPr algn="l">
              <a:defRPr sz="1875" b="0">
                <a:solidFill>
                  <a:srgbClr val="152D3A"/>
                </a:solidFill>
                <a:latin typeface="Arial"/>
                <a:ea typeface="Arial"/>
                <a:cs typeface="Arial"/>
              </a:defRPr>
            </a:lvl7pPr>
            <a:lvl8pPr algn="l">
              <a:defRPr sz="1875" b="0">
                <a:solidFill>
                  <a:srgbClr val="152D3A"/>
                </a:solidFill>
                <a:latin typeface="Arial"/>
                <a:ea typeface="Arial"/>
                <a:cs typeface="Arial"/>
              </a:defRPr>
            </a:lvl8pPr>
            <a:lvl9pPr algn="l">
              <a:defRPr sz="1875" b="0">
                <a:solidFill>
                  <a:srgbClr val="152D3A"/>
                </a:solidFill>
                <a:latin typeface="Arial"/>
                <a:ea typeface="Arial"/>
                <a:cs typeface="Arial"/>
              </a:defRPr>
            </a:lvl9pPr>
          </a:lstStyle>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Developers run the website without importing the full CSV.</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The local Next.js server calls the shared cloud API.</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PARKING_API_URL and a server-held key select the data service.</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Next: deploy the API/database and verify HTTPS access.</a:t>
            </a:r>
          </a:p>
        </p:txBody>
      </p:sp>
      <p:sp>
        <p:nvSpPr>
          <p:cNvPr id="16" name="">
            <a:extLst xmlns:a="http://schemas.openxmlformats.org/drawingml/2006/main">
              <a:ext uri="{FF2B5EF4-FFF2-40B4-BE49-F238E27FC236}">
                <a16:creationId xmlns:a16="http://schemas.microsoft.com/office/drawing/2014/main" id="{B1AD481D-29D4-433E-9D02-143033DB9FB8}"/>
              </a:ext>
            </a:extLst>
          </p:cNvPr>
          <p:cNvSpPr>
            <a:spLocks xmlns:a="http://schemas.openxmlformats.org/drawingml/2006/main" noGrp="1"/>
          </p:cNvSpPr>
          <p:nvPr/>
        </p:nvSpPr>
        <p:spPr>
          <a:xfrm xmlns:a="http://schemas.openxmlformats.org/drawingml/2006/main">
            <a:off x="685800" y="6391275"/>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536673"/>
                </a:solidFill>
                <a:latin typeface="Arial"/>
                <a:ea typeface="Arial"/>
                <a:cs typeface="Arial"/>
              </a:defRPr>
            </a:defPPr>
            <a:lvl1pPr algn="l">
              <a:defRPr sz="1500" b="0">
                <a:solidFill>
                  <a:srgbClr val="536673"/>
                </a:solidFill>
                <a:latin typeface="Arial"/>
                <a:ea typeface="Arial"/>
                <a:cs typeface="Arial"/>
              </a:defRPr>
            </a:lvl1pPr>
            <a:lvl2pPr algn="l">
              <a:defRPr sz="1500" b="0">
                <a:solidFill>
                  <a:srgbClr val="536673"/>
                </a:solidFill>
                <a:latin typeface="Arial"/>
                <a:ea typeface="Arial"/>
                <a:cs typeface="Arial"/>
              </a:defRPr>
            </a:lvl2pPr>
            <a:lvl3pPr algn="l">
              <a:defRPr sz="1500" b="0">
                <a:solidFill>
                  <a:srgbClr val="536673"/>
                </a:solidFill>
                <a:latin typeface="Arial"/>
                <a:ea typeface="Arial"/>
                <a:cs typeface="Arial"/>
              </a:defRPr>
            </a:lvl3pPr>
            <a:lvl4pPr algn="l">
              <a:defRPr sz="1500" b="0">
                <a:solidFill>
                  <a:srgbClr val="536673"/>
                </a:solidFill>
                <a:latin typeface="Arial"/>
                <a:ea typeface="Arial"/>
                <a:cs typeface="Arial"/>
              </a:defRPr>
            </a:lvl4pPr>
            <a:lvl5pPr algn="l">
              <a:defRPr sz="1500" b="0">
                <a:solidFill>
                  <a:srgbClr val="536673"/>
                </a:solidFill>
                <a:latin typeface="Arial"/>
                <a:ea typeface="Arial"/>
                <a:cs typeface="Arial"/>
              </a:defRPr>
            </a:lvl5pPr>
            <a:lvl6pPr algn="l">
              <a:defRPr sz="1500" b="0">
                <a:solidFill>
                  <a:srgbClr val="536673"/>
                </a:solidFill>
                <a:latin typeface="Arial"/>
                <a:ea typeface="Arial"/>
                <a:cs typeface="Arial"/>
              </a:defRPr>
            </a:lvl6pPr>
            <a:lvl7pPr algn="l">
              <a:defRPr sz="1500" b="0">
                <a:solidFill>
                  <a:srgbClr val="536673"/>
                </a:solidFill>
                <a:latin typeface="Arial"/>
                <a:ea typeface="Arial"/>
                <a:cs typeface="Arial"/>
              </a:defRPr>
            </a:lvl7pPr>
            <a:lvl8pPr algn="l">
              <a:defRPr sz="1500" b="0">
                <a:solidFill>
                  <a:srgbClr val="536673"/>
                </a:solidFill>
                <a:latin typeface="Arial"/>
                <a:ea typeface="Arial"/>
                <a:cs typeface="Arial"/>
              </a:defRPr>
            </a:lvl8pPr>
            <a:lvl9pPr algn="l">
              <a:defRPr sz="1500" b="0">
                <a:solidFill>
                  <a:srgbClr val="536673"/>
                </a:solidFill>
                <a:latin typeface="Arial"/>
                <a:ea typeface="Arial"/>
                <a:cs typeface="Arial"/>
              </a:defRPr>
            </a:lvl9pPr>
          </a:lstStyle>
          <a:p xmlns:a="http://schemas.openxmlformats.org/drawingml/2006/main">
            <a:pPr algn="l">
              <a:defRPr sz="1500" b="0">
                <a:solidFill>
                  <a:srgbClr val="536673"/>
                </a:solidFill>
                <a:latin typeface="Arial"/>
                <a:ea typeface="Arial"/>
                <a:cs typeface="Arial"/>
              </a:defRPr>
            </a:pPr>
            <a:r>
              <a:rPr sz="1500" b="0">
                <a:solidFill>
                  <a:srgbClr val="536673"/>
                </a:solidFill>
                <a:latin typeface="Arial"/>
                <a:ea typeface="Arial"/>
                <a:cs typeface="Arial"/>
              </a:rPr>
              <a:t>Current progress: architecture and environment template only; no hosted endpoint verified.</a:t>
            </a:r>
          </a:p>
        </p:txBody>
      </p:sp>
    </p:spTree>
    <p:extLst>
      <p:ext uri="{BB962C8B-B14F-4D97-AF65-F5344CB8AC3E}">
        <p14:creationId xmlns:p14="http://schemas.microsoft.com/office/powerpoint/2010/main" val="11648042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FBFF8769-C1A2-45AC-B6C1-EF17CC5BB9C9}"/>
              </a:ext>
            </a:extLst>
          </p:cNvPr>
          <p:cNvCxnSpPr>
            <a:stCxn xmlns:a="http://schemas.openxmlformats.org/drawingml/2006/main" id="8" idx="3"/>
            <a:endCxn xmlns:a="http://schemas.openxmlformats.org/drawingml/2006/main" id="9" idx="1"/>
          </p:cNvCxnSpPr>
          <p:nvPr/>
        </p:nvCxnSpPr>
        <p:spPr>
          <a:xfrm xmlns:a="http://schemas.openxmlformats.org/drawingml/2006/main">
            <a:off x="9553575" y="2952750"/>
            <a:ext cx="523875" cy="0"/>
          </a:xfrm>
          <a:prstGeom xmlns:a="http://schemas.openxmlformats.org/drawingml/2006/main" prst="straightConnector1">
            <a:avLst/>
          </a:prstGeom>
          <a:ln xmlns:a="http://schemas.openxmlformats.org/drawingml/2006/main" w="19050">
            <a:solidFill>
              <a:srgbClr val="356AA5"/>
            </a:solidFill>
            <a:tailEnd type="arrow" w="med" len="med"/>
          </a:ln>
        </p:spPr>
      </p:cxnSp>
      <p:cxnSp>
        <p:nvCxnSpPr>
          <p:cNvPr id="12" name="">
            <a:extLst xmlns:a="http://schemas.openxmlformats.org/drawingml/2006/main">
              <a:ext uri="{FF2B5EF4-FFF2-40B4-BE49-F238E27FC236}">
                <a16:creationId xmlns:a16="http://schemas.microsoft.com/office/drawing/2014/main" id="{FF4F8655-39CB-493F-BE15-5A80DF827A79}"/>
              </a:ext>
            </a:extLst>
          </p:cNvPr>
          <p:cNvCxnSpPr>
            <a:stCxn xmlns:a="http://schemas.openxmlformats.org/drawingml/2006/main" id="7" idx="3"/>
            <a:endCxn xmlns:a="http://schemas.openxmlformats.org/drawingml/2006/main" id="8" idx="1"/>
          </p:cNvCxnSpPr>
          <p:nvPr/>
        </p:nvCxnSpPr>
        <p:spPr>
          <a:xfrm xmlns:a="http://schemas.openxmlformats.org/drawingml/2006/main">
            <a:off x="7648575" y="2952750"/>
            <a:ext cx="523875" cy="0"/>
          </a:xfrm>
          <a:prstGeom xmlns:a="http://schemas.openxmlformats.org/drawingml/2006/main" prst="straightConnector1">
            <a:avLst/>
          </a:prstGeom>
          <a:ln xmlns:a="http://schemas.openxmlformats.org/drawingml/2006/main" w="19050">
            <a:solidFill>
              <a:srgbClr val="356AA5"/>
            </a:solidFill>
            <a:tailEnd type="arrow" w="med" len="med"/>
          </a:ln>
        </p:spPr>
      </p:cxnSp>
      <p:cxnSp>
        <p:nvCxnSpPr>
          <p:cNvPr id="11" name="">
            <a:extLst xmlns:a="http://schemas.openxmlformats.org/drawingml/2006/main">
              <a:ext uri="{FF2B5EF4-FFF2-40B4-BE49-F238E27FC236}">
                <a16:creationId xmlns:a16="http://schemas.microsoft.com/office/drawing/2014/main" id="{1D36BB87-B0E4-45E5-A20C-2B226D591CAA}"/>
              </a:ext>
            </a:extLst>
          </p:cNvPr>
          <p:cNvCxnSpPr>
            <a:stCxn xmlns:a="http://schemas.openxmlformats.org/drawingml/2006/main" id="6" idx="3"/>
            <a:endCxn xmlns:a="http://schemas.openxmlformats.org/drawingml/2006/main" id="7" idx="1"/>
          </p:cNvCxnSpPr>
          <p:nvPr/>
        </p:nvCxnSpPr>
        <p:spPr>
          <a:xfrm xmlns:a="http://schemas.openxmlformats.org/drawingml/2006/main">
            <a:off x="4953000" y="2952750"/>
            <a:ext cx="571500" cy="0"/>
          </a:xfrm>
          <a:prstGeom xmlns:a="http://schemas.openxmlformats.org/drawingml/2006/main" prst="straightConnector1">
            <a:avLst/>
          </a:prstGeom>
          <a:ln xmlns:a="http://schemas.openxmlformats.org/drawingml/2006/main" w="19050">
            <a:solidFill>
              <a:srgbClr val="356AA5"/>
            </a:solidFill>
            <a:tailEnd type="arrow" w="med" len="med"/>
          </a:ln>
        </p:spPr>
      </p:cxnSp>
      <p:cxnSp>
        <p:nvCxnSpPr>
          <p:cNvPr id="10" name="">
            <a:extLst xmlns:a="http://schemas.openxmlformats.org/drawingml/2006/main">
              <a:ext uri="{FF2B5EF4-FFF2-40B4-BE49-F238E27FC236}">
                <a16:creationId xmlns:a16="http://schemas.microsoft.com/office/drawing/2014/main" id="{73B95EB9-F0F0-4349-8558-A637E21CE36C}"/>
              </a:ext>
            </a:extLst>
          </p:cNvPr>
          <p:cNvCxnSpPr>
            <a:stCxn xmlns:a="http://schemas.openxmlformats.org/drawingml/2006/main" id="5" idx="3"/>
            <a:endCxn xmlns:a="http://schemas.openxmlformats.org/drawingml/2006/main" id="6" idx="1"/>
          </p:cNvCxnSpPr>
          <p:nvPr/>
        </p:nvCxnSpPr>
        <p:spPr>
          <a:xfrm xmlns:a="http://schemas.openxmlformats.org/drawingml/2006/main">
            <a:off x="2190750" y="2952750"/>
            <a:ext cx="1047750" cy="0"/>
          </a:xfrm>
          <a:prstGeom xmlns:a="http://schemas.openxmlformats.org/drawingml/2006/main" prst="straightConnector1">
            <a:avLst/>
          </a:prstGeom>
          <a:ln xmlns:a="http://schemas.openxmlformats.org/drawingml/2006/main" w="19050">
            <a:solidFill>
              <a:srgbClr val="356AA5"/>
            </a:solidFill>
            <a:tailEnd type="arrow" w="med" len="med"/>
          </a:ln>
        </p:spPr>
      </p:cxnSp>
      <p:sp>
        <p:nvSpPr>
          <p:cNvPr id="17" name="">
            <a:extLst xmlns:a="http://schemas.openxmlformats.org/drawingml/2006/main">
              <a:ext uri="{FF2B5EF4-FFF2-40B4-BE49-F238E27FC236}">
                <a16:creationId xmlns:a16="http://schemas.microsoft.com/office/drawing/2014/main" id="{827597CA-BB67-43A5-B010-BB1EB5E62611}"/>
              </a:ext>
            </a:extLst>
          </p:cNvPr>
          <p:cNvSpPr>
            <a:spLocks xmlns:a="http://schemas.openxmlformats.org/drawingml/2006/main" noGrp="1"/>
          </p:cNvSpPr>
          <p:nvPr/>
        </p:nvSpPr>
        <p:spPr>
          <a:xfrm xmlns:a="http://schemas.openxmlformats.org/drawingml/2006/main">
            <a:off x="533400" y="38100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152D3A"/>
                </a:solidFill>
                <a:latin typeface="Arial"/>
                <a:ea typeface="Arial"/>
                <a:cs typeface="Arial"/>
              </a:defRPr>
            </a:defPPr>
            <a:lvl1pPr algn="l">
              <a:defRPr sz="3300" b="1">
                <a:solidFill>
                  <a:srgbClr val="152D3A"/>
                </a:solidFill>
                <a:latin typeface="Arial"/>
                <a:ea typeface="Arial"/>
                <a:cs typeface="Arial"/>
              </a:defRPr>
            </a:lvl1pPr>
            <a:lvl2pPr algn="l">
              <a:defRPr sz="3300" b="1">
                <a:solidFill>
                  <a:srgbClr val="152D3A"/>
                </a:solidFill>
                <a:latin typeface="Arial"/>
                <a:ea typeface="Arial"/>
                <a:cs typeface="Arial"/>
              </a:defRPr>
            </a:lvl2pPr>
            <a:lvl3pPr algn="l">
              <a:defRPr sz="3300" b="1">
                <a:solidFill>
                  <a:srgbClr val="152D3A"/>
                </a:solidFill>
                <a:latin typeface="Arial"/>
                <a:ea typeface="Arial"/>
                <a:cs typeface="Arial"/>
              </a:defRPr>
            </a:lvl3pPr>
            <a:lvl4pPr algn="l">
              <a:defRPr sz="3300" b="1">
                <a:solidFill>
                  <a:srgbClr val="152D3A"/>
                </a:solidFill>
                <a:latin typeface="Arial"/>
                <a:ea typeface="Arial"/>
                <a:cs typeface="Arial"/>
              </a:defRPr>
            </a:lvl4pPr>
            <a:lvl5pPr algn="l">
              <a:defRPr sz="3300" b="1">
                <a:solidFill>
                  <a:srgbClr val="152D3A"/>
                </a:solidFill>
                <a:latin typeface="Arial"/>
                <a:ea typeface="Arial"/>
                <a:cs typeface="Arial"/>
              </a:defRPr>
            </a:lvl5pPr>
            <a:lvl6pPr algn="l">
              <a:defRPr sz="3300" b="1">
                <a:solidFill>
                  <a:srgbClr val="152D3A"/>
                </a:solidFill>
                <a:latin typeface="Arial"/>
                <a:ea typeface="Arial"/>
                <a:cs typeface="Arial"/>
              </a:defRPr>
            </a:lvl6pPr>
            <a:lvl7pPr algn="l">
              <a:defRPr sz="3300" b="1">
                <a:solidFill>
                  <a:srgbClr val="152D3A"/>
                </a:solidFill>
                <a:latin typeface="Arial"/>
                <a:ea typeface="Arial"/>
                <a:cs typeface="Arial"/>
              </a:defRPr>
            </a:lvl7pPr>
            <a:lvl8pPr algn="l">
              <a:defRPr sz="3300" b="1">
                <a:solidFill>
                  <a:srgbClr val="152D3A"/>
                </a:solidFill>
                <a:latin typeface="Arial"/>
                <a:ea typeface="Arial"/>
                <a:cs typeface="Arial"/>
              </a:defRPr>
            </a:lvl8pPr>
            <a:lvl9pPr algn="l">
              <a:defRPr sz="3300" b="1">
                <a:solidFill>
                  <a:srgbClr val="152D3A"/>
                </a:solidFill>
                <a:latin typeface="Arial"/>
                <a:ea typeface="Arial"/>
                <a:cs typeface="Arial"/>
              </a:defRPr>
            </a:lvl9pPr>
          </a:lstStyle>
          <a:p xmlns:a="http://schemas.openxmlformats.org/drawingml/2006/main">
            <a:pPr algn="l">
              <a:defRPr sz="3300" b="1">
                <a:solidFill>
                  <a:srgbClr val="152D3A"/>
                </a:solidFill>
                <a:latin typeface="Arial"/>
                <a:ea typeface="Arial"/>
                <a:cs typeface="Arial"/>
              </a:defRPr>
            </a:pPr>
            <a:r>
              <a:rPr sz="3300" b="1">
                <a:solidFill>
                  <a:srgbClr val="152D3A"/>
                </a:solidFill>
                <a:latin typeface="Arial"/>
                <a:ea typeface="Arial"/>
                <a:cs typeface="Arial"/>
              </a:rPr>
              <a:t>3. Hosted website + cloud database</a:t>
            </a:r>
          </a:p>
        </p:txBody>
      </p:sp>
      <p:sp>
        <p:nvSpPr>
          <p:cNvPr id="2" name="">
            <a:extLst xmlns:a="http://schemas.openxmlformats.org/drawingml/2006/main">
              <a:ext uri="{FF2B5EF4-FFF2-40B4-BE49-F238E27FC236}">
                <a16:creationId xmlns:a16="http://schemas.microsoft.com/office/drawing/2014/main" id="{BAB7721A-71DD-4890-A656-99DFF51BF557}"/>
              </a:ext>
            </a:extLst>
          </p:cNvPr>
          <p:cNvSpPr>
            <a:spLocks xmlns:a="http://schemas.openxmlformats.org/drawingml/2006/main" noGrp="1"/>
          </p:cNvSpPr>
          <p:nvPr/>
        </p:nvSpPr>
        <p:spPr>
          <a:xfrm xmlns:a="http://schemas.openxmlformats.org/drawingml/2006/main">
            <a:off x="552450" y="1133475"/>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356AA5"/>
                </a:solidFill>
                <a:latin typeface="Arial"/>
                <a:ea typeface="Arial"/>
                <a:cs typeface="Arial"/>
              </a:defRPr>
            </a:defPPr>
            <a:lvl1pPr algn="l">
              <a:defRPr sz="1875" b="0">
                <a:solidFill>
                  <a:srgbClr val="356AA5"/>
                </a:solidFill>
                <a:latin typeface="Arial"/>
                <a:ea typeface="Arial"/>
                <a:cs typeface="Arial"/>
              </a:defRPr>
            </a:lvl1pPr>
            <a:lvl2pPr algn="l">
              <a:defRPr sz="1875" b="0">
                <a:solidFill>
                  <a:srgbClr val="356AA5"/>
                </a:solidFill>
                <a:latin typeface="Arial"/>
                <a:ea typeface="Arial"/>
                <a:cs typeface="Arial"/>
              </a:defRPr>
            </a:lvl2pPr>
            <a:lvl3pPr algn="l">
              <a:defRPr sz="1875" b="0">
                <a:solidFill>
                  <a:srgbClr val="356AA5"/>
                </a:solidFill>
                <a:latin typeface="Arial"/>
                <a:ea typeface="Arial"/>
                <a:cs typeface="Arial"/>
              </a:defRPr>
            </a:lvl3pPr>
            <a:lvl4pPr algn="l">
              <a:defRPr sz="1875" b="0">
                <a:solidFill>
                  <a:srgbClr val="356AA5"/>
                </a:solidFill>
                <a:latin typeface="Arial"/>
                <a:ea typeface="Arial"/>
                <a:cs typeface="Arial"/>
              </a:defRPr>
            </a:lvl4pPr>
            <a:lvl5pPr algn="l">
              <a:defRPr sz="1875" b="0">
                <a:solidFill>
                  <a:srgbClr val="356AA5"/>
                </a:solidFill>
                <a:latin typeface="Arial"/>
                <a:ea typeface="Arial"/>
                <a:cs typeface="Arial"/>
              </a:defRPr>
            </a:lvl5pPr>
            <a:lvl6pPr algn="l">
              <a:defRPr sz="1875" b="0">
                <a:solidFill>
                  <a:srgbClr val="356AA5"/>
                </a:solidFill>
                <a:latin typeface="Arial"/>
                <a:ea typeface="Arial"/>
                <a:cs typeface="Arial"/>
              </a:defRPr>
            </a:lvl6pPr>
            <a:lvl7pPr algn="l">
              <a:defRPr sz="1875" b="0">
                <a:solidFill>
                  <a:srgbClr val="356AA5"/>
                </a:solidFill>
                <a:latin typeface="Arial"/>
                <a:ea typeface="Arial"/>
                <a:cs typeface="Arial"/>
              </a:defRPr>
            </a:lvl7pPr>
            <a:lvl8pPr algn="l">
              <a:defRPr sz="1875" b="0">
                <a:solidFill>
                  <a:srgbClr val="356AA5"/>
                </a:solidFill>
                <a:latin typeface="Arial"/>
                <a:ea typeface="Arial"/>
                <a:cs typeface="Arial"/>
              </a:defRPr>
            </a:lvl8pPr>
            <a:lvl9pPr algn="l">
              <a:defRPr sz="1875" b="0">
                <a:solidFill>
                  <a:srgbClr val="356AA5"/>
                </a:solidFill>
                <a:latin typeface="Arial"/>
                <a:ea typeface="Arial"/>
                <a:cs typeface="Arial"/>
              </a:defRPr>
            </a:lvl9pPr>
          </a:lstStyle>
          <a:p xmlns:a="http://schemas.openxmlformats.org/drawingml/2006/main">
            <a:pPr algn="l">
              <a:defRPr sz="1875" b="0">
                <a:solidFill>
                  <a:srgbClr val="356AA5"/>
                </a:solidFill>
                <a:latin typeface="Arial"/>
                <a:ea typeface="Arial"/>
                <a:cs typeface="Arial"/>
              </a:defRPr>
            </a:pPr>
            <a:r>
              <a:rPr sz="1875" b="0">
                <a:solidFill>
                  <a:srgbClr val="356AA5"/>
                </a:solidFill>
                <a:latin typeface="Arial"/>
                <a:ea typeface="Arial"/>
                <a:cs typeface="Arial"/>
              </a:rPr>
              <a:t>Planned; production setup and validation remain</a:t>
            </a:r>
          </a:p>
        </p:txBody>
      </p:sp>
      <p:sp>
        <p:nvSpPr>
          <p:cNvPr id="3" name="CLOUD — PLANNED">
            <a:extLst xmlns:a="http://schemas.openxmlformats.org/drawingml/2006/main">
              <a:ext uri="{FF2B5EF4-FFF2-40B4-BE49-F238E27FC236}">
                <a16:creationId xmlns:a16="http://schemas.microsoft.com/office/drawing/2014/main" id="{949541CC-F5CD-41DF-B372-934714FCB055}"/>
              </a:ext>
            </a:extLst>
          </p:cNvPr>
          <p:cNvSpPr>
            <a:spLocks xmlns:a="http://schemas.openxmlformats.org/drawingml/2006/main" noGrp="1"/>
          </p:cNvSpPr>
          <p:nvPr/>
        </p:nvSpPr>
        <p:spPr>
          <a:xfrm xmlns:a="http://schemas.openxmlformats.org/drawingml/2006/main">
            <a:off x="2876550" y="1771650"/>
            <a:ext cx="8791575" cy="2209800"/>
          </a:xfrm>
          <a:prstGeom xmlns:a="http://schemas.openxmlformats.org/drawingml/2006/main" prst="rect">
            <a:avLst/>
          </a:prstGeom>
          <a:noFill xmlns:a="http://schemas.openxmlformats.org/drawingml/2006/main"/>
          <a:ln xmlns:a="http://schemas.openxmlformats.org/drawingml/2006/main" w="14288">
            <a:solidFill>
              <a:srgbClr val="356AA5"/>
            </a:solidFill>
          </a:ln>
        </p:spPr>
      </p:sp>
      <p:sp>
        <p:nvSpPr>
          <p:cNvPr id="4" name="">
            <a:extLst xmlns:a="http://schemas.openxmlformats.org/drawingml/2006/main">
              <a:ext uri="{FF2B5EF4-FFF2-40B4-BE49-F238E27FC236}">
                <a16:creationId xmlns:a16="http://schemas.microsoft.com/office/drawing/2014/main" id="{D0EB6E0C-08C0-411F-8DC1-A04913002CF7}"/>
              </a:ext>
            </a:extLst>
          </p:cNvPr>
          <p:cNvSpPr>
            <a:spLocks xmlns:a="http://schemas.openxmlformats.org/drawingml/2006/main" noGrp="1"/>
          </p:cNvSpPr>
          <p:nvPr/>
        </p:nvSpPr>
        <p:spPr>
          <a:xfrm xmlns:a="http://schemas.openxmlformats.org/drawingml/2006/main">
            <a:off x="3048000" y="1876425"/>
            <a:ext cx="8448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1">
                <a:solidFill>
                  <a:srgbClr val="356AA5"/>
                </a:solidFill>
                <a:latin typeface="Arial"/>
                <a:ea typeface="Arial"/>
                <a:cs typeface="Arial"/>
              </a:defRPr>
            </a:defPPr>
            <a:lvl1pPr algn="l">
              <a:defRPr sz="1425" b="1">
                <a:solidFill>
                  <a:srgbClr val="356AA5"/>
                </a:solidFill>
                <a:latin typeface="Arial"/>
                <a:ea typeface="Arial"/>
                <a:cs typeface="Arial"/>
              </a:defRPr>
            </a:lvl1pPr>
            <a:lvl2pPr algn="l">
              <a:defRPr sz="1425" b="1">
                <a:solidFill>
                  <a:srgbClr val="356AA5"/>
                </a:solidFill>
                <a:latin typeface="Arial"/>
                <a:ea typeface="Arial"/>
                <a:cs typeface="Arial"/>
              </a:defRPr>
            </a:lvl2pPr>
            <a:lvl3pPr algn="l">
              <a:defRPr sz="1425" b="1">
                <a:solidFill>
                  <a:srgbClr val="356AA5"/>
                </a:solidFill>
                <a:latin typeface="Arial"/>
                <a:ea typeface="Arial"/>
                <a:cs typeface="Arial"/>
              </a:defRPr>
            </a:lvl3pPr>
            <a:lvl4pPr algn="l">
              <a:defRPr sz="1425" b="1">
                <a:solidFill>
                  <a:srgbClr val="356AA5"/>
                </a:solidFill>
                <a:latin typeface="Arial"/>
                <a:ea typeface="Arial"/>
                <a:cs typeface="Arial"/>
              </a:defRPr>
            </a:lvl4pPr>
            <a:lvl5pPr algn="l">
              <a:defRPr sz="1425" b="1">
                <a:solidFill>
                  <a:srgbClr val="356AA5"/>
                </a:solidFill>
                <a:latin typeface="Arial"/>
                <a:ea typeface="Arial"/>
                <a:cs typeface="Arial"/>
              </a:defRPr>
            </a:lvl5pPr>
            <a:lvl6pPr algn="l">
              <a:defRPr sz="1425" b="1">
                <a:solidFill>
                  <a:srgbClr val="356AA5"/>
                </a:solidFill>
                <a:latin typeface="Arial"/>
                <a:ea typeface="Arial"/>
                <a:cs typeface="Arial"/>
              </a:defRPr>
            </a:lvl6pPr>
            <a:lvl7pPr algn="l">
              <a:defRPr sz="1425" b="1">
                <a:solidFill>
                  <a:srgbClr val="356AA5"/>
                </a:solidFill>
                <a:latin typeface="Arial"/>
                <a:ea typeface="Arial"/>
                <a:cs typeface="Arial"/>
              </a:defRPr>
            </a:lvl7pPr>
            <a:lvl8pPr algn="l">
              <a:defRPr sz="1425" b="1">
                <a:solidFill>
                  <a:srgbClr val="356AA5"/>
                </a:solidFill>
                <a:latin typeface="Arial"/>
                <a:ea typeface="Arial"/>
                <a:cs typeface="Arial"/>
              </a:defRPr>
            </a:lvl8pPr>
            <a:lvl9pPr algn="l">
              <a:defRPr sz="1425" b="1">
                <a:solidFill>
                  <a:srgbClr val="356AA5"/>
                </a:solidFill>
                <a:latin typeface="Arial"/>
                <a:ea typeface="Arial"/>
                <a:cs typeface="Arial"/>
              </a:defRPr>
            </a:lvl9pPr>
          </a:lstStyle>
          <a:p xmlns:a="http://schemas.openxmlformats.org/drawingml/2006/main">
            <a:pPr algn="l">
              <a:defRPr sz="1425" b="1">
                <a:solidFill>
                  <a:srgbClr val="356AA5"/>
                </a:solidFill>
                <a:latin typeface="Arial"/>
                <a:ea typeface="Arial"/>
                <a:cs typeface="Arial"/>
              </a:defRPr>
            </a:pPr>
            <a:r>
              <a:rPr sz="1425" b="1">
                <a:solidFill>
                  <a:srgbClr val="356AA5"/>
                </a:solidFill>
                <a:latin typeface="Arial"/>
                <a:ea typeface="Arial"/>
                <a:cs typeface="Arial"/>
              </a:rPr>
              <a:t>CLOUD — PLANNED</a:t>
            </a:r>
          </a:p>
        </p:txBody>
      </p:sp>
      <p:sp>
        <p:nvSpPr>
          <p:cNvPr id="5" name="User browser">
            <a:extLst xmlns:a="http://schemas.openxmlformats.org/drawingml/2006/main">
              <a:ext uri="{FF2B5EF4-FFF2-40B4-BE49-F238E27FC236}">
                <a16:creationId xmlns:a16="http://schemas.microsoft.com/office/drawing/2014/main" id="{7F5A1E1E-372A-4406-8C82-71FEC40310F5}"/>
              </a:ext>
            </a:extLst>
          </p:cNvPr>
          <p:cNvSpPr>
            <a:spLocks xmlns:a="http://schemas.openxmlformats.org/drawingml/2006/main" noGrp="1"/>
          </p:cNvSpPr>
          <p:nvPr/>
        </p:nvSpPr>
        <p:spPr>
          <a:xfrm xmlns:a="http://schemas.openxmlformats.org/drawingml/2006/main">
            <a:off x="514350" y="2533650"/>
            <a:ext cx="167640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User browser</a:t>
            </a:r>
          </a:p>
        </p:txBody>
      </p:sp>
      <p:sp>
        <p:nvSpPr>
          <p:cNvPr id="6" name="HTTPS entry Caddy / TLS">
            <a:extLst xmlns:a="http://schemas.openxmlformats.org/drawingml/2006/main">
              <a:ext uri="{FF2B5EF4-FFF2-40B4-BE49-F238E27FC236}">
                <a16:creationId xmlns:a16="http://schemas.microsoft.com/office/drawing/2014/main" id="{9EE0BC18-C30E-476C-914D-D08EF6FBD3AA}"/>
              </a:ext>
            </a:extLst>
          </p:cNvPr>
          <p:cNvSpPr>
            <a:spLocks xmlns:a="http://schemas.openxmlformats.org/drawingml/2006/main" noGrp="1"/>
          </p:cNvSpPr>
          <p:nvPr/>
        </p:nvSpPr>
        <p:spPr>
          <a:xfrm xmlns:a="http://schemas.openxmlformats.org/drawingml/2006/main">
            <a:off x="3238500" y="2533650"/>
            <a:ext cx="171450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356AA5"/>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HTTPS entry</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Caddy / TLS</a:t>
            </a:r>
          </a:p>
        </p:txBody>
      </p:sp>
      <p:sp>
        <p:nvSpPr>
          <p:cNvPr id="7" name="Hosted website Next.js + proxy">
            <a:extLst xmlns:a="http://schemas.openxmlformats.org/drawingml/2006/main">
              <a:ext uri="{FF2B5EF4-FFF2-40B4-BE49-F238E27FC236}">
                <a16:creationId xmlns:a16="http://schemas.microsoft.com/office/drawing/2014/main" id="{4130FF9B-525D-4B88-8B49-4FFD478C5BA5}"/>
              </a:ext>
            </a:extLst>
          </p:cNvPr>
          <p:cNvSpPr>
            <a:spLocks xmlns:a="http://schemas.openxmlformats.org/drawingml/2006/main" noGrp="1"/>
          </p:cNvSpPr>
          <p:nvPr/>
        </p:nvSpPr>
        <p:spPr>
          <a:xfrm xmlns:a="http://schemas.openxmlformats.org/drawingml/2006/main">
            <a:off x="5524500" y="2533650"/>
            <a:ext cx="2124075"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356AA5"/>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Hosted website</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Next.js + proxy</a:t>
            </a:r>
          </a:p>
        </p:txBody>
      </p:sp>
      <p:sp>
        <p:nvSpPr>
          <p:cNvPr id="8" name="Data API FastAPI">
            <a:extLst xmlns:a="http://schemas.openxmlformats.org/drawingml/2006/main">
              <a:ext uri="{FF2B5EF4-FFF2-40B4-BE49-F238E27FC236}">
                <a16:creationId xmlns:a16="http://schemas.microsoft.com/office/drawing/2014/main" id="{E84B173A-9C11-4619-9741-138C2D5665AA}"/>
              </a:ext>
            </a:extLst>
          </p:cNvPr>
          <p:cNvSpPr>
            <a:spLocks xmlns:a="http://schemas.openxmlformats.org/drawingml/2006/main" noGrp="1"/>
          </p:cNvSpPr>
          <p:nvPr/>
        </p:nvSpPr>
        <p:spPr>
          <a:xfrm xmlns:a="http://schemas.openxmlformats.org/drawingml/2006/main">
            <a:off x="8172450" y="2533650"/>
            <a:ext cx="1381125"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356AA5"/>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Data API</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FastAPI</a:t>
            </a:r>
          </a:p>
        </p:txBody>
      </p:sp>
      <p:sp>
        <p:nvSpPr>
          <p:cNvPr id="9" name="PostGIS Private DB">
            <a:extLst xmlns:a="http://schemas.openxmlformats.org/drawingml/2006/main">
              <a:ext uri="{FF2B5EF4-FFF2-40B4-BE49-F238E27FC236}">
                <a16:creationId xmlns:a16="http://schemas.microsoft.com/office/drawing/2014/main" id="{1CA05DC0-150C-4B3D-862A-1D904ABC41E3}"/>
              </a:ext>
            </a:extLst>
          </p:cNvPr>
          <p:cNvSpPr>
            <a:spLocks xmlns:a="http://schemas.openxmlformats.org/drawingml/2006/main" noGrp="1"/>
          </p:cNvSpPr>
          <p:nvPr/>
        </p:nvSpPr>
        <p:spPr>
          <a:xfrm xmlns:a="http://schemas.openxmlformats.org/drawingml/2006/main">
            <a:off x="10077450" y="2533650"/>
            <a:ext cx="1381125"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356AA5"/>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PostGIS</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Private DB</a:t>
            </a:r>
          </a:p>
        </p:txBody>
      </p:sp>
      <p:sp>
        <p:nvSpPr>
          <p:cNvPr id="14" name="">
            <a:extLst xmlns:a="http://schemas.openxmlformats.org/drawingml/2006/main">
              <a:ext uri="{FF2B5EF4-FFF2-40B4-BE49-F238E27FC236}">
                <a16:creationId xmlns:a16="http://schemas.microsoft.com/office/drawing/2014/main" id="{CECFE051-067F-4782-90EF-911A72FEC56E}"/>
              </a:ext>
            </a:extLst>
          </p:cNvPr>
          <p:cNvSpPr>
            <a:spLocks xmlns:a="http://schemas.openxmlformats.org/drawingml/2006/main" noGrp="1"/>
          </p:cNvSpPr>
          <p:nvPr/>
        </p:nvSpPr>
        <p:spPr>
          <a:xfrm xmlns:a="http://schemas.openxmlformats.org/drawingml/2006/main">
            <a:off x="2276475" y="4000500"/>
            <a:ext cx="895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50" b="0">
                <a:solidFill>
                  <a:srgbClr val="356AA5"/>
                </a:solidFill>
                <a:latin typeface="Arial"/>
                <a:ea typeface="Arial"/>
                <a:cs typeface="Arial"/>
              </a:defRPr>
            </a:defPPr>
            <a:lvl1pPr algn="ctr">
              <a:defRPr sz="1350" b="0">
                <a:solidFill>
                  <a:srgbClr val="356AA5"/>
                </a:solidFill>
                <a:latin typeface="Arial"/>
                <a:ea typeface="Arial"/>
                <a:cs typeface="Arial"/>
              </a:defRPr>
            </a:lvl1pPr>
            <a:lvl2pPr algn="ctr">
              <a:defRPr sz="1350" b="0">
                <a:solidFill>
                  <a:srgbClr val="356AA5"/>
                </a:solidFill>
                <a:latin typeface="Arial"/>
                <a:ea typeface="Arial"/>
                <a:cs typeface="Arial"/>
              </a:defRPr>
            </a:lvl2pPr>
            <a:lvl3pPr algn="ctr">
              <a:defRPr sz="1350" b="0">
                <a:solidFill>
                  <a:srgbClr val="356AA5"/>
                </a:solidFill>
                <a:latin typeface="Arial"/>
                <a:ea typeface="Arial"/>
                <a:cs typeface="Arial"/>
              </a:defRPr>
            </a:lvl3pPr>
            <a:lvl4pPr algn="ctr">
              <a:defRPr sz="1350" b="0">
                <a:solidFill>
                  <a:srgbClr val="356AA5"/>
                </a:solidFill>
                <a:latin typeface="Arial"/>
                <a:ea typeface="Arial"/>
                <a:cs typeface="Arial"/>
              </a:defRPr>
            </a:lvl4pPr>
            <a:lvl5pPr algn="ctr">
              <a:defRPr sz="1350" b="0">
                <a:solidFill>
                  <a:srgbClr val="356AA5"/>
                </a:solidFill>
                <a:latin typeface="Arial"/>
                <a:ea typeface="Arial"/>
                <a:cs typeface="Arial"/>
              </a:defRPr>
            </a:lvl5pPr>
            <a:lvl6pPr algn="ctr">
              <a:defRPr sz="1350" b="0">
                <a:solidFill>
                  <a:srgbClr val="356AA5"/>
                </a:solidFill>
                <a:latin typeface="Arial"/>
                <a:ea typeface="Arial"/>
                <a:cs typeface="Arial"/>
              </a:defRPr>
            </a:lvl6pPr>
            <a:lvl7pPr algn="ctr">
              <a:defRPr sz="1350" b="0">
                <a:solidFill>
                  <a:srgbClr val="356AA5"/>
                </a:solidFill>
                <a:latin typeface="Arial"/>
                <a:ea typeface="Arial"/>
                <a:cs typeface="Arial"/>
              </a:defRPr>
            </a:lvl7pPr>
            <a:lvl8pPr algn="ctr">
              <a:defRPr sz="1350" b="0">
                <a:solidFill>
                  <a:srgbClr val="356AA5"/>
                </a:solidFill>
                <a:latin typeface="Arial"/>
                <a:ea typeface="Arial"/>
                <a:cs typeface="Arial"/>
              </a:defRPr>
            </a:lvl8pPr>
            <a:lvl9pPr algn="ctr">
              <a:defRPr sz="1350" b="0">
                <a:solidFill>
                  <a:srgbClr val="356AA5"/>
                </a:solidFill>
                <a:latin typeface="Arial"/>
                <a:ea typeface="Arial"/>
                <a:cs typeface="Arial"/>
              </a:defRPr>
            </a:lvl9pPr>
          </a:lstStyle>
          <a:p xmlns:a="http://schemas.openxmlformats.org/drawingml/2006/main">
            <a:pPr algn="ctr">
              <a:defRPr sz="1350" b="0">
                <a:solidFill>
                  <a:srgbClr val="356AA5"/>
                </a:solidFill>
                <a:latin typeface="Arial"/>
                <a:ea typeface="Arial"/>
                <a:cs typeface="Arial"/>
              </a:defRPr>
            </a:pPr>
            <a:r>
              <a:rPr sz="1350" b="0">
                <a:solidFill>
                  <a:srgbClr val="356AA5"/>
                </a:solidFill>
                <a:latin typeface="Arial"/>
                <a:ea typeface="Arial"/>
                <a:cs typeface="Arial"/>
              </a:rPr>
              <a:t>HTTPS</a:t>
            </a:r>
          </a:p>
        </p:txBody>
      </p:sp>
      <p:sp>
        <p:nvSpPr>
          <p:cNvPr id="15" name="">
            <a:extLst xmlns:a="http://schemas.openxmlformats.org/drawingml/2006/main">
              <a:ext uri="{FF2B5EF4-FFF2-40B4-BE49-F238E27FC236}">
                <a16:creationId xmlns:a16="http://schemas.microsoft.com/office/drawing/2014/main" id="{7093F6D8-C5FF-4F3D-98E6-2A4E4F6C3F1C}"/>
              </a:ext>
            </a:extLst>
          </p:cNvPr>
          <p:cNvSpPr>
            <a:spLocks xmlns:a="http://schemas.openxmlformats.org/drawingml/2006/main" noGrp="1"/>
          </p:cNvSpPr>
          <p:nvPr/>
        </p:nvSpPr>
        <p:spPr>
          <a:xfrm xmlns:a="http://schemas.openxmlformats.org/drawingml/2006/main">
            <a:off x="685800" y="4352925"/>
            <a:ext cx="107632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52D3A"/>
                </a:solidFill>
                <a:latin typeface="Arial"/>
                <a:ea typeface="Arial"/>
                <a:cs typeface="Arial"/>
              </a:defRPr>
            </a:defPPr>
            <a:lvl1pPr algn="l">
              <a:defRPr sz="1875" b="0">
                <a:solidFill>
                  <a:srgbClr val="152D3A"/>
                </a:solidFill>
                <a:latin typeface="Arial"/>
                <a:ea typeface="Arial"/>
                <a:cs typeface="Arial"/>
              </a:defRPr>
            </a:lvl1pPr>
            <a:lvl2pPr algn="l">
              <a:defRPr sz="1875" b="0">
                <a:solidFill>
                  <a:srgbClr val="152D3A"/>
                </a:solidFill>
                <a:latin typeface="Arial"/>
                <a:ea typeface="Arial"/>
                <a:cs typeface="Arial"/>
              </a:defRPr>
            </a:lvl2pPr>
            <a:lvl3pPr algn="l">
              <a:defRPr sz="1875" b="0">
                <a:solidFill>
                  <a:srgbClr val="152D3A"/>
                </a:solidFill>
                <a:latin typeface="Arial"/>
                <a:ea typeface="Arial"/>
                <a:cs typeface="Arial"/>
              </a:defRPr>
            </a:lvl3pPr>
            <a:lvl4pPr algn="l">
              <a:defRPr sz="1875" b="0">
                <a:solidFill>
                  <a:srgbClr val="152D3A"/>
                </a:solidFill>
                <a:latin typeface="Arial"/>
                <a:ea typeface="Arial"/>
                <a:cs typeface="Arial"/>
              </a:defRPr>
            </a:lvl4pPr>
            <a:lvl5pPr algn="l">
              <a:defRPr sz="1875" b="0">
                <a:solidFill>
                  <a:srgbClr val="152D3A"/>
                </a:solidFill>
                <a:latin typeface="Arial"/>
                <a:ea typeface="Arial"/>
                <a:cs typeface="Arial"/>
              </a:defRPr>
            </a:lvl5pPr>
            <a:lvl6pPr algn="l">
              <a:defRPr sz="1875" b="0">
                <a:solidFill>
                  <a:srgbClr val="152D3A"/>
                </a:solidFill>
                <a:latin typeface="Arial"/>
                <a:ea typeface="Arial"/>
                <a:cs typeface="Arial"/>
              </a:defRPr>
            </a:lvl6pPr>
            <a:lvl7pPr algn="l">
              <a:defRPr sz="1875" b="0">
                <a:solidFill>
                  <a:srgbClr val="152D3A"/>
                </a:solidFill>
                <a:latin typeface="Arial"/>
                <a:ea typeface="Arial"/>
                <a:cs typeface="Arial"/>
              </a:defRPr>
            </a:lvl7pPr>
            <a:lvl8pPr algn="l">
              <a:defRPr sz="1875" b="0">
                <a:solidFill>
                  <a:srgbClr val="152D3A"/>
                </a:solidFill>
                <a:latin typeface="Arial"/>
                <a:ea typeface="Arial"/>
                <a:cs typeface="Arial"/>
              </a:defRPr>
            </a:lvl8pPr>
            <a:lvl9pPr algn="l">
              <a:defRPr sz="1875" b="0">
                <a:solidFill>
                  <a:srgbClr val="152D3A"/>
                </a:solidFill>
                <a:latin typeface="Arial"/>
                <a:ea typeface="Arial"/>
                <a:cs typeface="Arial"/>
              </a:defRPr>
            </a:lvl9pPr>
          </a:lstStyle>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Users open the public website; no local installation is needed.</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Hosted Next.js calls FastAPI; PostGIS stays private.</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Earlier production Docker and Caddy drafts provide a starting point.</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Next: integrate hosting, test restore/recovery, and add monitoring.</a:t>
            </a:r>
          </a:p>
        </p:txBody>
      </p:sp>
      <p:sp>
        <p:nvSpPr>
          <p:cNvPr id="16" name="">
            <a:extLst xmlns:a="http://schemas.openxmlformats.org/drawingml/2006/main">
              <a:ext uri="{FF2B5EF4-FFF2-40B4-BE49-F238E27FC236}">
                <a16:creationId xmlns:a16="http://schemas.microsoft.com/office/drawing/2014/main" id="{2683D4A2-26DA-430A-BF22-3964CB64D791}"/>
              </a:ext>
            </a:extLst>
          </p:cNvPr>
          <p:cNvSpPr>
            <a:spLocks xmlns:a="http://schemas.openxmlformats.org/drawingml/2006/main" noGrp="1"/>
          </p:cNvSpPr>
          <p:nvPr/>
        </p:nvSpPr>
        <p:spPr>
          <a:xfrm xmlns:a="http://schemas.openxmlformats.org/drawingml/2006/main">
            <a:off x="685800" y="6391275"/>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536673"/>
                </a:solidFill>
                <a:latin typeface="Arial"/>
                <a:ea typeface="Arial"/>
                <a:cs typeface="Arial"/>
              </a:defRPr>
            </a:defPPr>
            <a:lvl1pPr algn="l">
              <a:defRPr sz="1500" b="0">
                <a:solidFill>
                  <a:srgbClr val="536673"/>
                </a:solidFill>
                <a:latin typeface="Arial"/>
                <a:ea typeface="Arial"/>
                <a:cs typeface="Arial"/>
              </a:defRPr>
            </a:lvl1pPr>
            <a:lvl2pPr algn="l">
              <a:defRPr sz="1500" b="0">
                <a:solidFill>
                  <a:srgbClr val="536673"/>
                </a:solidFill>
                <a:latin typeface="Arial"/>
                <a:ea typeface="Arial"/>
                <a:cs typeface="Arial"/>
              </a:defRPr>
            </a:lvl2pPr>
            <a:lvl3pPr algn="l">
              <a:defRPr sz="1500" b="0">
                <a:solidFill>
                  <a:srgbClr val="536673"/>
                </a:solidFill>
                <a:latin typeface="Arial"/>
                <a:ea typeface="Arial"/>
                <a:cs typeface="Arial"/>
              </a:defRPr>
            </a:lvl3pPr>
            <a:lvl4pPr algn="l">
              <a:defRPr sz="1500" b="0">
                <a:solidFill>
                  <a:srgbClr val="536673"/>
                </a:solidFill>
                <a:latin typeface="Arial"/>
                <a:ea typeface="Arial"/>
                <a:cs typeface="Arial"/>
              </a:defRPr>
            </a:lvl4pPr>
            <a:lvl5pPr algn="l">
              <a:defRPr sz="1500" b="0">
                <a:solidFill>
                  <a:srgbClr val="536673"/>
                </a:solidFill>
                <a:latin typeface="Arial"/>
                <a:ea typeface="Arial"/>
                <a:cs typeface="Arial"/>
              </a:defRPr>
            </a:lvl5pPr>
            <a:lvl6pPr algn="l">
              <a:defRPr sz="1500" b="0">
                <a:solidFill>
                  <a:srgbClr val="536673"/>
                </a:solidFill>
                <a:latin typeface="Arial"/>
                <a:ea typeface="Arial"/>
                <a:cs typeface="Arial"/>
              </a:defRPr>
            </a:lvl6pPr>
            <a:lvl7pPr algn="l">
              <a:defRPr sz="1500" b="0">
                <a:solidFill>
                  <a:srgbClr val="536673"/>
                </a:solidFill>
                <a:latin typeface="Arial"/>
                <a:ea typeface="Arial"/>
                <a:cs typeface="Arial"/>
              </a:defRPr>
            </a:lvl7pPr>
            <a:lvl8pPr algn="l">
              <a:defRPr sz="1500" b="0">
                <a:solidFill>
                  <a:srgbClr val="536673"/>
                </a:solidFill>
                <a:latin typeface="Arial"/>
                <a:ea typeface="Arial"/>
                <a:cs typeface="Arial"/>
              </a:defRPr>
            </a:lvl8pPr>
            <a:lvl9pPr algn="l">
              <a:defRPr sz="1500" b="0">
                <a:solidFill>
                  <a:srgbClr val="536673"/>
                </a:solidFill>
                <a:latin typeface="Arial"/>
                <a:ea typeface="Arial"/>
                <a:cs typeface="Arial"/>
              </a:defRPr>
            </a:lvl9pPr>
          </a:lstStyle>
          <a:p xmlns:a="http://schemas.openxmlformats.org/drawingml/2006/main">
            <a:pPr algn="l">
              <a:defRPr sz="1500" b="0">
                <a:solidFill>
                  <a:srgbClr val="536673"/>
                </a:solidFill>
                <a:latin typeface="Arial"/>
                <a:ea typeface="Arial"/>
                <a:cs typeface="Arial"/>
              </a:defRPr>
            </a:pPr>
            <a:r>
              <a:rPr sz="1500" b="0">
                <a:solidFill>
                  <a:srgbClr val="536673"/>
                </a:solidFill>
                <a:latin typeface="Arial"/>
                <a:ea typeface="Arial"/>
                <a:cs typeface="Arial"/>
              </a:rPr>
              <a:t>Website and data service can share a VPS or use separate hosts; the deployment choice remains open.</a:t>
            </a:r>
          </a:p>
        </p:txBody>
      </p:sp>
    </p:spTree>
    <p:extLst>
      <p:ext uri="{BB962C8B-B14F-4D97-AF65-F5344CB8AC3E}">
        <p14:creationId xmlns:p14="http://schemas.microsoft.com/office/powerpoint/2010/main" val="50694262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009FB086-6A09-4CCD-AF28-99FE9D689390}"/>
              </a:ext>
            </a:extLst>
          </p:cNvPr>
          <p:cNvCxnSpPr>
            <a:stCxn xmlns:a="http://schemas.openxmlformats.org/drawingml/2006/main" id="10" idx="3"/>
            <a:endCxn xmlns:a="http://schemas.openxmlformats.org/drawingml/2006/main" id="11" idx="1"/>
          </p:cNvCxnSpPr>
          <p:nvPr/>
        </p:nvCxnSpPr>
        <p:spPr>
          <a:xfrm xmlns:a="http://schemas.openxmlformats.org/drawingml/2006/main">
            <a:off x="8886825" y="2952750"/>
            <a:ext cx="742950" cy="0"/>
          </a:xfrm>
          <a:prstGeom xmlns:a="http://schemas.openxmlformats.org/drawingml/2006/main" prst="straightConnector1">
            <a:avLst/>
          </a:prstGeom>
          <a:ln xmlns:a="http://schemas.openxmlformats.org/drawingml/2006/main" w="19050">
            <a:solidFill>
              <a:srgbClr val="356AA5"/>
            </a:solidFill>
            <a:tailEnd type="arrow" w="med" len="med"/>
          </a:ln>
        </p:spPr>
      </p:cxnSp>
      <p:cxnSp>
        <p:nvCxnSpPr>
          <p:cNvPr id="14" name="">
            <a:extLst xmlns:a="http://schemas.openxmlformats.org/drawingml/2006/main">
              <a:ext uri="{FF2B5EF4-FFF2-40B4-BE49-F238E27FC236}">
                <a16:creationId xmlns:a16="http://schemas.microsoft.com/office/drawing/2014/main" id="{9A4C085C-EBDF-41E6-A067-2F8AEF44B511}"/>
              </a:ext>
            </a:extLst>
          </p:cNvPr>
          <p:cNvCxnSpPr>
            <a:stCxn xmlns:a="http://schemas.openxmlformats.org/drawingml/2006/main" id="9" idx="3"/>
            <a:endCxn xmlns:a="http://schemas.openxmlformats.org/drawingml/2006/main" id="10" idx="1"/>
          </p:cNvCxnSpPr>
          <p:nvPr/>
        </p:nvCxnSpPr>
        <p:spPr>
          <a:xfrm xmlns:a="http://schemas.openxmlformats.org/drawingml/2006/main">
            <a:off x="6696075" y="2952750"/>
            <a:ext cx="495300" cy="0"/>
          </a:xfrm>
          <a:prstGeom xmlns:a="http://schemas.openxmlformats.org/drawingml/2006/main" prst="straightConnector1">
            <a:avLst/>
          </a:prstGeom>
          <a:ln xmlns:a="http://schemas.openxmlformats.org/drawingml/2006/main" w="19050">
            <a:solidFill>
              <a:srgbClr val="152D3A"/>
            </a:solidFill>
            <a:tailEnd type="arrow" w="med" len="med"/>
          </a:ln>
        </p:spPr>
      </p:cxnSp>
      <p:cxnSp>
        <p:nvCxnSpPr>
          <p:cNvPr id="13" name="">
            <a:extLst xmlns:a="http://schemas.openxmlformats.org/drawingml/2006/main">
              <a:ext uri="{FF2B5EF4-FFF2-40B4-BE49-F238E27FC236}">
                <a16:creationId xmlns:a16="http://schemas.microsoft.com/office/drawing/2014/main" id="{FCC5D000-39B7-455F-B371-A5DA3FB4F64C}"/>
              </a:ext>
            </a:extLst>
          </p:cNvPr>
          <p:cNvCxnSpPr>
            <a:stCxn xmlns:a="http://schemas.openxmlformats.org/drawingml/2006/main" id="8" idx="3"/>
            <a:endCxn xmlns:a="http://schemas.openxmlformats.org/drawingml/2006/main" id="9" idx="1"/>
          </p:cNvCxnSpPr>
          <p:nvPr/>
        </p:nvCxnSpPr>
        <p:spPr>
          <a:xfrm xmlns:a="http://schemas.openxmlformats.org/drawingml/2006/main">
            <a:off x="4505325" y="2952750"/>
            <a:ext cx="495300" cy="0"/>
          </a:xfrm>
          <a:prstGeom xmlns:a="http://schemas.openxmlformats.org/drawingml/2006/main" prst="straightConnector1">
            <a:avLst/>
          </a:prstGeom>
          <a:ln xmlns:a="http://schemas.openxmlformats.org/drawingml/2006/main" w="19050">
            <a:solidFill>
              <a:srgbClr val="152D3A"/>
            </a:solidFill>
            <a:tailEnd type="arrow" w="med" len="med"/>
          </a:ln>
        </p:spPr>
      </p:cxnSp>
      <p:cxnSp>
        <p:nvCxnSpPr>
          <p:cNvPr id="12" name="">
            <a:extLst xmlns:a="http://schemas.openxmlformats.org/drawingml/2006/main">
              <a:ext uri="{FF2B5EF4-FFF2-40B4-BE49-F238E27FC236}">
                <a16:creationId xmlns:a16="http://schemas.microsoft.com/office/drawing/2014/main" id="{1DE2593A-43DA-44C1-9E92-B2F197F53130}"/>
              </a:ext>
            </a:extLst>
          </p:cNvPr>
          <p:cNvCxnSpPr>
            <a:stCxn xmlns:a="http://schemas.openxmlformats.org/drawingml/2006/main" id="7" idx="3"/>
            <a:endCxn xmlns:a="http://schemas.openxmlformats.org/drawingml/2006/main" id="8" idx="1"/>
          </p:cNvCxnSpPr>
          <p:nvPr/>
        </p:nvCxnSpPr>
        <p:spPr>
          <a:xfrm xmlns:a="http://schemas.openxmlformats.org/drawingml/2006/main">
            <a:off x="2314575" y="2952750"/>
            <a:ext cx="495300" cy="0"/>
          </a:xfrm>
          <a:prstGeom xmlns:a="http://schemas.openxmlformats.org/drawingml/2006/main" prst="straightConnector1">
            <a:avLst/>
          </a:prstGeom>
          <a:ln xmlns:a="http://schemas.openxmlformats.org/drawingml/2006/main" w="19050">
            <a:solidFill>
              <a:srgbClr val="152D3A"/>
            </a:solidFill>
            <a:tailEnd type="arrow" w="med" len="med"/>
          </a:ln>
        </p:spPr>
      </p:cxnSp>
      <p:sp>
        <p:nvSpPr>
          <p:cNvPr id="19" name="">
            <a:extLst xmlns:a="http://schemas.openxmlformats.org/drawingml/2006/main">
              <a:ext uri="{FF2B5EF4-FFF2-40B4-BE49-F238E27FC236}">
                <a16:creationId xmlns:a16="http://schemas.microsoft.com/office/drawing/2014/main" id="{D3D8024A-1EF6-4610-99DD-BD8D404B6540}"/>
              </a:ext>
            </a:extLst>
          </p:cNvPr>
          <p:cNvSpPr>
            <a:spLocks xmlns:a="http://schemas.openxmlformats.org/drawingml/2006/main" noGrp="1"/>
          </p:cNvSpPr>
          <p:nvPr/>
        </p:nvSpPr>
        <p:spPr>
          <a:xfrm xmlns:a="http://schemas.openxmlformats.org/drawingml/2006/main">
            <a:off x="533400" y="381000"/>
            <a:ext cx="11125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152D3A"/>
                </a:solidFill>
                <a:latin typeface="Arial"/>
                <a:ea typeface="Arial"/>
                <a:cs typeface="Arial"/>
              </a:defRPr>
            </a:defPPr>
            <a:lvl1pPr algn="l">
              <a:defRPr sz="3300" b="1">
                <a:solidFill>
                  <a:srgbClr val="152D3A"/>
                </a:solidFill>
                <a:latin typeface="Arial"/>
                <a:ea typeface="Arial"/>
                <a:cs typeface="Arial"/>
              </a:defRPr>
            </a:lvl1pPr>
            <a:lvl2pPr algn="l">
              <a:defRPr sz="3300" b="1">
                <a:solidFill>
                  <a:srgbClr val="152D3A"/>
                </a:solidFill>
                <a:latin typeface="Arial"/>
                <a:ea typeface="Arial"/>
                <a:cs typeface="Arial"/>
              </a:defRPr>
            </a:lvl2pPr>
            <a:lvl3pPr algn="l">
              <a:defRPr sz="3300" b="1">
                <a:solidFill>
                  <a:srgbClr val="152D3A"/>
                </a:solidFill>
                <a:latin typeface="Arial"/>
                <a:ea typeface="Arial"/>
                <a:cs typeface="Arial"/>
              </a:defRPr>
            </a:lvl3pPr>
            <a:lvl4pPr algn="l">
              <a:defRPr sz="3300" b="1">
                <a:solidFill>
                  <a:srgbClr val="152D3A"/>
                </a:solidFill>
                <a:latin typeface="Arial"/>
                <a:ea typeface="Arial"/>
                <a:cs typeface="Arial"/>
              </a:defRPr>
            </a:lvl4pPr>
            <a:lvl5pPr algn="l">
              <a:defRPr sz="3300" b="1">
                <a:solidFill>
                  <a:srgbClr val="152D3A"/>
                </a:solidFill>
                <a:latin typeface="Arial"/>
                <a:ea typeface="Arial"/>
                <a:cs typeface="Arial"/>
              </a:defRPr>
            </a:lvl5pPr>
            <a:lvl6pPr algn="l">
              <a:defRPr sz="3300" b="1">
                <a:solidFill>
                  <a:srgbClr val="152D3A"/>
                </a:solidFill>
                <a:latin typeface="Arial"/>
                <a:ea typeface="Arial"/>
                <a:cs typeface="Arial"/>
              </a:defRPr>
            </a:lvl6pPr>
            <a:lvl7pPr algn="l">
              <a:defRPr sz="3300" b="1">
                <a:solidFill>
                  <a:srgbClr val="152D3A"/>
                </a:solidFill>
                <a:latin typeface="Arial"/>
                <a:ea typeface="Arial"/>
                <a:cs typeface="Arial"/>
              </a:defRPr>
            </a:lvl7pPr>
            <a:lvl8pPr algn="l">
              <a:defRPr sz="3300" b="1">
                <a:solidFill>
                  <a:srgbClr val="152D3A"/>
                </a:solidFill>
                <a:latin typeface="Arial"/>
                <a:ea typeface="Arial"/>
                <a:cs typeface="Arial"/>
              </a:defRPr>
            </a:lvl8pPr>
            <a:lvl9pPr algn="l">
              <a:defRPr sz="3300" b="1">
                <a:solidFill>
                  <a:srgbClr val="152D3A"/>
                </a:solidFill>
                <a:latin typeface="Arial"/>
                <a:ea typeface="Arial"/>
                <a:cs typeface="Arial"/>
              </a:defRPr>
            </a:lvl9pPr>
          </a:lstStyle>
          <a:p xmlns:a="http://schemas.openxmlformats.org/drawingml/2006/main">
            <a:pPr algn="l">
              <a:defRPr sz="3300" b="1">
                <a:solidFill>
                  <a:srgbClr val="152D3A"/>
                </a:solidFill>
                <a:latin typeface="Arial"/>
                <a:ea typeface="Arial"/>
                <a:cs typeface="Arial"/>
              </a:defRPr>
            </a:pPr>
            <a:r>
              <a:rPr sz="3300" b="1">
                <a:solidFill>
                  <a:srgbClr val="152D3A"/>
                </a:solidFill>
                <a:latin typeface="Arial"/>
                <a:ea typeface="Arial"/>
                <a:cs typeface="Arial"/>
              </a:rPr>
              <a:t>Database preparation and cloud handoff</a:t>
            </a:r>
          </a:p>
        </p:txBody>
      </p:sp>
      <p:sp>
        <p:nvSpPr>
          <p:cNvPr id="2" name="">
            <a:extLst xmlns:a="http://schemas.openxmlformats.org/drawingml/2006/main">
              <a:ext uri="{FF2B5EF4-FFF2-40B4-BE49-F238E27FC236}">
                <a16:creationId xmlns:a16="http://schemas.microsoft.com/office/drawing/2014/main" id="{5AFA2F2F-E36E-446D-AC5B-0DD343C678CF}"/>
              </a:ext>
            </a:extLst>
          </p:cNvPr>
          <p:cNvSpPr>
            <a:spLocks xmlns:a="http://schemas.openxmlformats.org/drawingml/2006/main" noGrp="1"/>
          </p:cNvSpPr>
          <p:nvPr/>
        </p:nvSpPr>
        <p:spPr>
          <a:xfrm xmlns:a="http://schemas.openxmlformats.org/drawingml/2006/main">
            <a:off x="552450" y="1133475"/>
            <a:ext cx="1108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356AA5"/>
                </a:solidFill>
                <a:latin typeface="Arial"/>
                <a:ea typeface="Arial"/>
                <a:cs typeface="Arial"/>
              </a:defRPr>
            </a:defPPr>
            <a:lvl1pPr algn="l">
              <a:defRPr sz="1875" b="0">
                <a:solidFill>
                  <a:srgbClr val="356AA5"/>
                </a:solidFill>
                <a:latin typeface="Arial"/>
                <a:ea typeface="Arial"/>
                <a:cs typeface="Arial"/>
              </a:defRPr>
            </a:lvl1pPr>
            <a:lvl2pPr algn="l">
              <a:defRPr sz="1875" b="0">
                <a:solidFill>
                  <a:srgbClr val="356AA5"/>
                </a:solidFill>
                <a:latin typeface="Arial"/>
                <a:ea typeface="Arial"/>
                <a:cs typeface="Arial"/>
              </a:defRPr>
            </a:lvl2pPr>
            <a:lvl3pPr algn="l">
              <a:defRPr sz="1875" b="0">
                <a:solidFill>
                  <a:srgbClr val="356AA5"/>
                </a:solidFill>
                <a:latin typeface="Arial"/>
                <a:ea typeface="Arial"/>
                <a:cs typeface="Arial"/>
              </a:defRPr>
            </a:lvl3pPr>
            <a:lvl4pPr algn="l">
              <a:defRPr sz="1875" b="0">
                <a:solidFill>
                  <a:srgbClr val="356AA5"/>
                </a:solidFill>
                <a:latin typeface="Arial"/>
                <a:ea typeface="Arial"/>
                <a:cs typeface="Arial"/>
              </a:defRPr>
            </a:lvl4pPr>
            <a:lvl5pPr algn="l">
              <a:defRPr sz="1875" b="0">
                <a:solidFill>
                  <a:srgbClr val="356AA5"/>
                </a:solidFill>
                <a:latin typeface="Arial"/>
                <a:ea typeface="Arial"/>
                <a:cs typeface="Arial"/>
              </a:defRPr>
            </a:lvl5pPr>
            <a:lvl6pPr algn="l">
              <a:defRPr sz="1875" b="0">
                <a:solidFill>
                  <a:srgbClr val="356AA5"/>
                </a:solidFill>
                <a:latin typeface="Arial"/>
                <a:ea typeface="Arial"/>
                <a:cs typeface="Arial"/>
              </a:defRPr>
            </a:lvl6pPr>
            <a:lvl7pPr algn="l">
              <a:defRPr sz="1875" b="0">
                <a:solidFill>
                  <a:srgbClr val="356AA5"/>
                </a:solidFill>
                <a:latin typeface="Arial"/>
                <a:ea typeface="Arial"/>
                <a:cs typeface="Arial"/>
              </a:defRPr>
            </a:lvl7pPr>
            <a:lvl8pPr algn="l">
              <a:defRPr sz="1875" b="0">
                <a:solidFill>
                  <a:srgbClr val="356AA5"/>
                </a:solidFill>
                <a:latin typeface="Arial"/>
                <a:ea typeface="Arial"/>
                <a:cs typeface="Arial"/>
              </a:defRPr>
            </a:lvl8pPr>
            <a:lvl9pPr algn="l">
              <a:defRPr sz="1875" b="0">
                <a:solidFill>
                  <a:srgbClr val="356AA5"/>
                </a:solidFill>
                <a:latin typeface="Arial"/>
                <a:ea typeface="Arial"/>
                <a:cs typeface="Arial"/>
              </a:defRPr>
            </a:lvl9pPr>
          </a:lstStyle>
          <a:p xmlns:a="http://schemas.openxmlformats.org/drawingml/2006/main">
            <a:pPr algn="l">
              <a:defRPr sz="1875" b="0">
                <a:solidFill>
                  <a:srgbClr val="356AA5"/>
                </a:solidFill>
                <a:latin typeface="Arial"/>
                <a:ea typeface="Arial"/>
                <a:cs typeface="Arial"/>
              </a:defRPr>
            </a:pPr>
            <a:r>
              <a:rPr sz="1875" b="0">
                <a:solidFill>
                  <a:srgbClr val="356AA5"/>
                </a:solidFill>
                <a:latin typeface="Arial"/>
                <a:ea typeface="Arial"/>
                <a:cs typeface="Arial"/>
              </a:rPr>
              <a:t>Shared data pipeline; cloud transfer and restore still need validation</a:t>
            </a:r>
          </a:p>
        </p:txBody>
      </p:sp>
      <p:sp>
        <p:nvSpPr>
          <p:cNvPr id="3" name="LOCAL DATA PREPARATION">
            <a:extLst xmlns:a="http://schemas.openxmlformats.org/drawingml/2006/main">
              <a:ext uri="{FF2B5EF4-FFF2-40B4-BE49-F238E27FC236}">
                <a16:creationId xmlns:a16="http://schemas.microsoft.com/office/drawing/2014/main" id="{1285D1CB-7889-4C3F-9F60-2ABF11F9D603}"/>
              </a:ext>
            </a:extLst>
          </p:cNvPr>
          <p:cNvSpPr>
            <a:spLocks xmlns:a="http://schemas.openxmlformats.org/drawingml/2006/main" noGrp="1"/>
          </p:cNvSpPr>
          <p:nvPr/>
        </p:nvSpPr>
        <p:spPr>
          <a:xfrm xmlns:a="http://schemas.openxmlformats.org/drawingml/2006/main">
            <a:off x="409575" y="1771650"/>
            <a:ext cx="8686800" cy="2209800"/>
          </a:xfrm>
          <a:prstGeom xmlns:a="http://schemas.openxmlformats.org/drawingml/2006/main" prst="rect">
            <a:avLst/>
          </a:prstGeom>
          <a:noFill xmlns:a="http://schemas.openxmlformats.org/drawingml/2006/main"/>
          <a:ln xmlns:a="http://schemas.openxmlformats.org/drawingml/2006/main" w="14288">
            <a:solidFill>
              <a:srgbClr val="087E70"/>
            </a:solidFill>
          </a:ln>
        </p:spPr>
      </p:sp>
      <p:sp>
        <p:nvSpPr>
          <p:cNvPr id="4" name="">
            <a:extLst xmlns:a="http://schemas.openxmlformats.org/drawingml/2006/main">
              <a:ext uri="{FF2B5EF4-FFF2-40B4-BE49-F238E27FC236}">
                <a16:creationId xmlns:a16="http://schemas.microsoft.com/office/drawing/2014/main" id="{7F2F90A9-4CA0-4D40-A8F9-4F7513AA961A}"/>
              </a:ext>
            </a:extLst>
          </p:cNvPr>
          <p:cNvSpPr>
            <a:spLocks xmlns:a="http://schemas.openxmlformats.org/drawingml/2006/main" noGrp="1"/>
          </p:cNvSpPr>
          <p:nvPr/>
        </p:nvSpPr>
        <p:spPr>
          <a:xfrm xmlns:a="http://schemas.openxmlformats.org/drawingml/2006/main">
            <a:off x="581025" y="1876425"/>
            <a:ext cx="8343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1">
                <a:solidFill>
                  <a:srgbClr val="087E70"/>
                </a:solidFill>
                <a:latin typeface="Arial"/>
                <a:ea typeface="Arial"/>
                <a:cs typeface="Arial"/>
              </a:defRPr>
            </a:defPPr>
            <a:lvl1pPr algn="l">
              <a:defRPr sz="1425" b="1">
                <a:solidFill>
                  <a:srgbClr val="087E70"/>
                </a:solidFill>
                <a:latin typeface="Arial"/>
                <a:ea typeface="Arial"/>
                <a:cs typeface="Arial"/>
              </a:defRPr>
            </a:lvl1pPr>
            <a:lvl2pPr algn="l">
              <a:defRPr sz="1425" b="1">
                <a:solidFill>
                  <a:srgbClr val="087E70"/>
                </a:solidFill>
                <a:latin typeface="Arial"/>
                <a:ea typeface="Arial"/>
                <a:cs typeface="Arial"/>
              </a:defRPr>
            </a:lvl2pPr>
            <a:lvl3pPr algn="l">
              <a:defRPr sz="1425" b="1">
                <a:solidFill>
                  <a:srgbClr val="087E70"/>
                </a:solidFill>
                <a:latin typeface="Arial"/>
                <a:ea typeface="Arial"/>
                <a:cs typeface="Arial"/>
              </a:defRPr>
            </a:lvl3pPr>
            <a:lvl4pPr algn="l">
              <a:defRPr sz="1425" b="1">
                <a:solidFill>
                  <a:srgbClr val="087E70"/>
                </a:solidFill>
                <a:latin typeface="Arial"/>
                <a:ea typeface="Arial"/>
                <a:cs typeface="Arial"/>
              </a:defRPr>
            </a:lvl4pPr>
            <a:lvl5pPr algn="l">
              <a:defRPr sz="1425" b="1">
                <a:solidFill>
                  <a:srgbClr val="087E70"/>
                </a:solidFill>
                <a:latin typeface="Arial"/>
                <a:ea typeface="Arial"/>
                <a:cs typeface="Arial"/>
              </a:defRPr>
            </a:lvl5pPr>
            <a:lvl6pPr algn="l">
              <a:defRPr sz="1425" b="1">
                <a:solidFill>
                  <a:srgbClr val="087E70"/>
                </a:solidFill>
                <a:latin typeface="Arial"/>
                <a:ea typeface="Arial"/>
                <a:cs typeface="Arial"/>
              </a:defRPr>
            </a:lvl6pPr>
            <a:lvl7pPr algn="l">
              <a:defRPr sz="1425" b="1">
                <a:solidFill>
                  <a:srgbClr val="087E70"/>
                </a:solidFill>
                <a:latin typeface="Arial"/>
                <a:ea typeface="Arial"/>
                <a:cs typeface="Arial"/>
              </a:defRPr>
            </a:lvl7pPr>
            <a:lvl8pPr algn="l">
              <a:defRPr sz="1425" b="1">
                <a:solidFill>
                  <a:srgbClr val="087E70"/>
                </a:solidFill>
                <a:latin typeface="Arial"/>
                <a:ea typeface="Arial"/>
                <a:cs typeface="Arial"/>
              </a:defRPr>
            </a:lvl8pPr>
            <a:lvl9pPr algn="l">
              <a:defRPr sz="1425" b="1">
                <a:solidFill>
                  <a:srgbClr val="087E70"/>
                </a:solidFill>
                <a:latin typeface="Arial"/>
                <a:ea typeface="Arial"/>
                <a:cs typeface="Arial"/>
              </a:defRPr>
            </a:lvl9pPr>
          </a:lstStyle>
          <a:p xmlns:a="http://schemas.openxmlformats.org/drawingml/2006/main">
            <a:pPr algn="l">
              <a:defRPr sz="1425" b="1">
                <a:solidFill>
                  <a:srgbClr val="087E70"/>
                </a:solidFill>
                <a:latin typeface="Arial"/>
                <a:ea typeface="Arial"/>
                <a:cs typeface="Arial"/>
              </a:defRPr>
            </a:pPr>
            <a:r>
              <a:rPr sz="1425" b="1">
                <a:solidFill>
                  <a:srgbClr val="087E70"/>
                </a:solidFill>
                <a:latin typeface="Arial"/>
                <a:ea typeface="Arial"/>
                <a:cs typeface="Arial"/>
              </a:rPr>
              <a:t>LOCAL DATA PREPARATION</a:t>
            </a:r>
          </a:p>
        </p:txBody>
      </p:sp>
      <p:sp>
        <p:nvSpPr>
          <p:cNvPr id="5" name="CLOUD — PLANNED">
            <a:extLst xmlns:a="http://schemas.openxmlformats.org/drawingml/2006/main">
              <a:ext uri="{FF2B5EF4-FFF2-40B4-BE49-F238E27FC236}">
                <a16:creationId xmlns:a16="http://schemas.microsoft.com/office/drawing/2014/main" id="{3C4E308B-79C0-43F0-8790-4F36982C3FD6}"/>
              </a:ext>
            </a:extLst>
          </p:cNvPr>
          <p:cNvSpPr>
            <a:spLocks xmlns:a="http://schemas.openxmlformats.org/drawingml/2006/main" noGrp="1"/>
          </p:cNvSpPr>
          <p:nvPr/>
        </p:nvSpPr>
        <p:spPr>
          <a:xfrm xmlns:a="http://schemas.openxmlformats.org/drawingml/2006/main">
            <a:off x="9401175" y="1771650"/>
            <a:ext cx="2266950" cy="2209800"/>
          </a:xfrm>
          <a:prstGeom xmlns:a="http://schemas.openxmlformats.org/drawingml/2006/main" prst="rect">
            <a:avLst/>
          </a:prstGeom>
          <a:noFill xmlns:a="http://schemas.openxmlformats.org/drawingml/2006/main"/>
          <a:ln xmlns:a="http://schemas.openxmlformats.org/drawingml/2006/main" w="14288">
            <a:solidFill>
              <a:srgbClr val="356AA5"/>
            </a:solidFill>
          </a:ln>
        </p:spPr>
      </p:sp>
      <p:sp>
        <p:nvSpPr>
          <p:cNvPr id="6" name="">
            <a:extLst xmlns:a="http://schemas.openxmlformats.org/drawingml/2006/main">
              <a:ext uri="{FF2B5EF4-FFF2-40B4-BE49-F238E27FC236}">
                <a16:creationId xmlns:a16="http://schemas.microsoft.com/office/drawing/2014/main" id="{8FB1B5CA-FB69-4BCD-9EBC-24D05D24B0FE}"/>
              </a:ext>
            </a:extLst>
          </p:cNvPr>
          <p:cNvSpPr>
            <a:spLocks xmlns:a="http://schemas.openxmlformats.org/drawingml/2006/main" noGrp="1"/>
          </p:cNvSpPr>
          <p:nvPr/>
        </p:nvSpPr>
        <p:spPr>
          <a:xfrm xmlns:a="http://schemas.openxmlformats.org/drawingml/2006/main">
            <a:off x="9572625" y="1876425"/>
            <a:ext cx="1924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1">
                <a:solidFill>
                  <a:srgbClr val="356AA5"/>
                </a:solidFill>
                <a:latin typeface="Arial"/>
                <a:ea typeface="Arial"/>
                <a:cs typeface="Arial"/>
              </a:defRPr>
            </a:defPPr>
            <a:lvl1pPr algn="l">
              <a:defRPr sz="1425" b="1">
                <a:solidFill>
                  <a:srgbClr val="356AA5"/>
                </a:solidFill>
                <a:latin typeface="Arial"/>
                <a:ea typeface="Arial"/>
                <a:cs typeface="Arial"/>
              </a:defRPr>
            </a:lvl1pPr>
            <a:lvl2pPr algn="l">
              <a:defRPr sz="1425" b="1">
                <a:solidFill>
                  <a:srgbClr val="356AA5"/>
                </a:solidFill>
                <a:latin typeface="Arial"/>
                <a:ea typeface="Arial"/>
                <a:cs typeface="Arial"/>
              </a:defRPr>
            </a:lvl2pPr>
            <a:lvl3pPr algn="l">
              <a:defRPr sz="1425" b="1">
                <a:solidFill>
                  <a:srgbClr val="356AA5"/>
                </a:solidFill>
                <a:latin typeface="Arial"/>
                <a:ea typeface="Arial"/>
                <a:cs typeface="Arial"/>
              </a:defRPr>
            </a:lvl3pPr>
            <a:lvl4pPr algn="l">
              <a:defRPr sz="1425" b="1">
                <a:solidFill>
                  <a:srgbClr val="356AA5"/>
                </a:solidFill>
                <a:latin typeface="Arial"/>
                <a:ea typeface="Arial"/>
                <a:cs typeface="Arial"/>
              </a:defRPr>
            </a:lvl4pPr>
            <a:lvl5pPr algn="l">
              <a:defRPr sz="1425" b="1">
                <a:solidFill>
                  <a:srgbClr val="356AA5"/>
                </a:solidFill>
                <a:latin typeface="Arial"/>
                <a:ea typeface="Arial"/>
                <a:cs typeface="Arial"/>
              </a:defRPr>
            </a:lvl5pPr>
            <a:lvl6pPr algn="l">
              <a:defRPr sz="1425" b="1">
                <a:solidFill>
                  <a:srgbClr val="356AA5"/>
                </a:solidFill>
                <a:latin typeface="Arial"/>
                <a:ea typeface="Arial"/>
                <a:cs typeface="Arial"/>
              </a:defRPr>
            </a:lvl6pPr>
            <a:lvl7pPr algn="l">
              <a:defRPr sz="1425" b="1">
                <a:solidFill>
                  <a:srgbClr val="356AA5"/>
                </a:solidFill>
                <a:latin typeface="Arial"/>
                <a:ea typeface="Arial"/>
                <a:cs typeface="Arial"/>
              </a:defRPr>
            </a:lvl7pPr>
            <a:lvl8pPr algn="l">
              <a:defRPr sz="1425" b="1">
                <a:solidFill>
                  <a:srgbClr val="356AA5"/>
                </a:solidFill>
                <a:latin typeface="Arial"/>
                <a:ea typeface="Arial"/>
                <a:cs typeface="Arial"/>
              </a:defRPr>
            </a:lvl8pPr>
            <a:lvl9pPr algn="l">
              <a:defRPr sz="1425" b="1">
                <a:solidFill>
                  <a:srgbClr val="356AA5"/>
                </a:solidFill>
                <a:latin typeface="Arial"/>
                <a:ea typeface="Arial"/>
                <a:cs typeface="Arial"/>
              </a:defRPr>
            </a:lvl9pPr>
          </a:lstStyle>
          <a:p xmlns:a="http://schemas.openxmlformats.org/drawingml/2006/main">
            <a:pPr algn="l">
              <a:defRPr sz="1425" b="1">
                <a:solidFill>
                  <a:srgbClr val="356AA5"/>
                </a:solidFill>
                <a:latin typeface="Arial"/>
                <a:ea typeface="Arial"/>
                <a:cs typeface="Arial"/>
              </a:defRPr>
            </a:pPr>
            <a:r>
              <a:rPr sz="1425" b="1">
                <a:solidFill>
                  <a:srgbClr val="356AA5"/>
                </a:solidFill>
                <a:latin typeface="Arial"/>
                <a:ea typeface="Arial"/>
                <a:cs typeface="Arial"/>
              </a:rPr>
              <a:t>CLOUD — PLANNED</a:t>
            </a:r>
          </a:p>
        </p:txBody>
      </p:sp>
      <p:sp>
        <p:nvSpPr>
          <p:cNvPr id="7" name="Citation CSV Local source">
            <a:extLst xmlns:a="http://schemas.openxmlformats.org/drawingml/2006/main">
              <a:ext uri="{FF2B5EF4-FFF2-40B4-BE49-F238E27FC236}">
                <a16:creationId xmlns:a16="http://schemas.microsoft.com/office/drawing/2014/main" id="{F628B513-30BE-4D74-95ED-297B1361CC79}"/>
              </a:ext>
            </a:extLst>
          </p:cNvPr>
          <p:cNvSpPr>
            <a:spLocks xmlns:a="http://schemas.openxmlformats.org/drawingml/2006/main" noGrp="1"/>
          </p:cNvSpPr>
          <p:nvPr/>
        </p:nvSpPr>
        <p:spPr>
          <a:xfrm xmlns:a="http://schemas.openxmlformats.org/drawingml/2006/main">
            <a:off x="619125" y="2533650"/>
            <a:ext cx="169545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Citation CSV</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Local source</a:t>
            </a:r>
          </a:p>
        </p:txBody>
      </p:sp>
      <p:sp>
        <p:nvSpPr>
          <p:cNvPr id="8" name="Import + clean Python loader">
            <a:extLst xmlns:a="http://schemas.openxmlformats.org/drawingml/2006/main">
              <a:ext uri="{FF2B5EF4-FFF2-40B4-BE49-F238E27FC236}">
                <a16:creationId xmlns:a16="http://schemas.microsoft.com/office/drawing/2014/main" id="{989A69B1-CA8F-4C74-9F81-B58A4D8ABF97}"/>
              </a:ext>
            </a:extLst>
          </p:cNvPr>
          <p:cNvSpPr>
            <a:spLocks xmlns:a="http://schemas.openxmlformats.org/drawingml/2006/main" noGrp="1"/>
          </p:cNvSpPr>
          <p:nvPr/>
        </p:nvSpPr>
        <p:spPr>
          <a:xfrm xmlns:a="http://schemas.openxmlformats.org/drawingml/2006/main">
            <a:off x="2809875" y="2533650"/>
            <a:ext cx="169545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Import + clean</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Python loader</a:t>
            </a:r>
          </a:p>
        </p:txBody>
      </p:sp>
      <p:sp>
        <p:nvSpPr>
          <p:cNvPr id="9" name="Local database PostGIS">
            <a:extLst xmlns:a="http://schemas.openxmlformats.org/drawingml/2006/main">
              <a:ext uri="{FF2B5EF4-FFF2-40B4-BE49-F238E27FC236}">
                <a16:creationId xmlns:a16="http://schemas.microsoft.com/office/drawing/2014/main" id="{FE907C75-B045-4AD9-BD99-1A303629781D}"/>
              </a:ext>
            </a:extLst>
          </p:cNvPr>
          <p:cNvSpPr>
            <a:spLocks xmlns:a="http://schemas.openxmlformats.org/drawingml/2006/main" noGrp="1"/>
          </p:cNvSpPr>
          <p:nvPr/>
        </p:nvSpPr>
        <p:spPr>
          <a:xfrm xmlns:a="http://schemas.openxmlformats.org/drawingml/2006/main">
            <a:off x="5000625" y="2533650"/>
            <a:ext cx="169545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Local database</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PostGIS</a:t>
            </a:r>
          </a:p>
        </p:txBody>
      </p:sp>
      <p:sp>
        <p:nvSpPr>
          <p:cNvPr id="10" name="DB backup pg_dump">
            <a:extLst xmlns:a="http://schemas.openxmlformats.org/drawingml/2006/main">
              <a:ext uri="{FF2B5EF4-FFF2-40B4-BE49-F238E27FC236}">
                <a16:creationId xmlns:a16="http://schemas.microsoft.com/office/drawing/2014/main" id="{F0649187-D268-4C43-8CE3-048D925B1D42}"/>
              </a:ext>
            </a:extLst>
          </p:cNvPr>
          <p:cNvSpPr>
            <a:spLocks xmlns:a="http://schemas.openxmlformats.org/drawingml/2006/main" noGrp="1"/>
          </p:cNvSpPr>
          <p:nvPr/>
        </p:nvSpPr>
        <p:spPr>
          <a:xfrm xmlns:a="http://schemas.openxmlformats.org/drawingml/2006/main">
            <a:off x="7191375" y="2533650"/>
            <a:ext cx="169545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152D3A"/>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DB backup</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pg_dump</a:t>
            </a:r>
          </a:p>
        </p:txBody>
      </p:sp>
      <p:sp>
        <p:nvSpPr>
          <p:cNvPr id="11" name="Cloud database pg_restore">
            <a:extLst xmlns:a="http://schemas.openxmlformats.org/drawingml/2006/main">
              <a:ext uri="{FF2B5EF4-FFF2-40B4-BE49-F238E27FC236}">
                <a16:creationId xmlns:a16="http://schemas.microsoft.com/office/drawing/2014/main" id="{4CD88FCC-16C0-47E2-9902-B9D6EC3705C1}"/>
              </a:ext>
            </a:extLst>
          </p:cNvPr>
          <p:cNvSpPr>
            <a:spLocks xmlns:a="http://schemas.openxmlformats.org/drawingml/2006/main" noGrp="1"/>
          </p:cNvSpPr>
          <p:nvPr/>
        </p:nvSpPr>
        <p:spPr>
          <a:xfrm xmlns:a="http://schemas.openxmlformats.org/drawingml/2006/main">
            <a:off x="9629775" y="2533650"/>
            <a:ext cx="1809750" cy="838200"/>
          </a:xfrm>
          <a:prstGeom xmlns:a="http://schemas.openxmlformats.org/drawingml/2006/main" prst="rect">
            <a:avLst/>
          </a:prstGeom>
          <a:solidFill xmlns:a="http://schemas.openxmlformats.org/drawingml/2006/main">
            <a:srgbClr val="F3F7F7"/>
          </a:solidFill>
          <a:ln xmlns:a="http://schemas.openxmlformats.org/drawingml/2006/main" w="14288">
            <a:solidFill>
              <a:srgbClr val="356AA5"/>
            </a:solidFill>
          </a:ln>
        </p:spPr>
        <p:txBody>
          <a:bodyPr xmlns:a="http://schemas.openxmlformats.org/drawingml/2006/main" lIns="95250" tIns="95250" rIns="95250" bIns="95250" anchor="ctr">
            <a:noAutofit/>
          </a:bodyPr>
          <a:lstStyle xmlns:a="http://schemas.openxmlformats.org/drawingml/2006/main">
            <a:defPPr algn="ctr">
              <a:defRPr sz="1725">
                <a:solidFill>
                  <a:srgbClr val="152D3A"/>
                </a:solidFill>
                <a:latin typeface="Arial"/>
                <a:ea typeface="Arial"/>
                <a:cs typeface="Arial"/>
              </a:defRPr>
            </a:defPPr>
            <a:lvl1pPr algn="ctr">
              <a:defRPr sz="1725">
                <a:solidFill>
                  <a:srgbClr val="152D3A"/>
                </a:solidFill>
                <a:latin typeface="Arial"/>
                <a:ea typeface="Arial"/>
                <a:cs typeface="Arial"/>
              </a:defRPr>
            </a:lvl1pPr>
            <a:lvl2pPr algn="ctr">
              <a:defRPr sz="1725">
                <a:solidFill>
                  <a:srgbClr val="152D3A"/>
                </a:solidFill>
                <a:latin typeface="Arial"/>
                <a:ea typeface="Arial"/>
                <a:cs typeface="Arial"/>
              </a:defRPr>
            </a:lvl2pPr>
            <a:lvl3pPr algn="ctr">
              <a:defRPr sz="1725">
                <a:solidFill>
                  <a:srgbClr val="152D3A"/>
                </a:solidFill>
                <a:latin typeface="Arial"/>
                <a:ea typeface="Arial"/>
                <a:cs typeface="Arial"/>
              </a:defRPr>
            </a:lvl3pPr>
            <a:lvl4pPr algn="ctr">
              <a:defRPr sz="1725">
                <a:solidFill>
                  <a:srgbClr val="152D3A"/>
                </a:solidFill>
                <a:latin typeface="Arial"/>
                <a:ea typeface="Arial"/>
                <a:cs typeface="Arial"/>
              </a:defRPr>
            </a:lvl4pPr>
            <a:lvl5pPr algn="ctr">
              <a:defRPr sz="1725">
                <a:solidFill>
                  <a:srgbClr val="152D3A"/>
                </a:solidFill>
                <a:latin typeface="Arial"/>
                <a:ea typeface="Arial"/>
                <a:cs typeface="Arial"/>
              </a:defRPr>
            </a:lvl5pPr>
            <a:lvl6pPr algn="ctr">
              <a:defRPr sz="1725">
                <a:solidFill>
                  <a:srgbClr val="152D3A"/>
                </a:solidFill>
                <a:latin typeface="Arial"/>
                <a:ea typeface="Arial"/>
                <a:cs typeface="Arial"/>
              </a:defRPr>
            </a:lvl6pPr>
            <a:lvl7pPr algn="ctr">
              <a:defRPr sz="1725">
                <a:solidFill>
                  <a:srgbClr val="152D3A"/>
                </a:solidFill>
                <a:latin typeface="Arial"/>
                <a:ea typeface="Arial"/>
                <a:cs typeface="Arial"/>
              </a:defRPr>
            </a:lvl7pPr>
            <a:lvl8pPr algn="ctr">
              <a:defRPr sz="1725">
                <a:solidFill>
                  <a:srgbClr val="152D3A"/>
                </a:solidFill>
                <a:latin typeface="Arial"/>
                <a:ea typeface="Arial"/>
                <a:cs typeface="Arial"/>
              </a:defRPr>
            </a:lvl8pPr>
            <a:lvl9pPr algn="ctr">
              <a:defRPr sz="1725">
                <a:solidFill>
                  <a:srgbClr val="152D3A"/>
                </a:solidFill>
                <a:latin typeface="Arial"/>
                <a:ea typeface="Arial"/>
                <a:cs typeface="Arial"/>
              </a:defRPr>
            </a:lvl9pPr>
          </a:lstStyle>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Cloud database</a:t>
            </a:r>
          </a:p>
          <a:p xmlns:a="http://schemas.openxmlformats.org/drawingml/2006/main">
            <a:pPr algn="ctr">
              <a:defRPr sz="1725">
                <a:solidFill>
                  <a:srgbClr val="152D3A"/>
                </a:solidFill>
                <a:latin typeface="Arial"/>
                <a:ea typeface="Arial"/>
                <a:cs typeface="Arial"/>
              </a:defRPr>
            </a:pPr>
            <a:r>
              <a:rPr sz="1725">
                <a:solidFill>
                  <a:srgbClr val="152D3A"/>
                </a:solidFill>
                <a:latin typeface="Arial"/>
                <a:ea typeface="Arial"/>
                <a:cs typeface="Arial"/>
              </a:rPr>
              <a:t>pg_restore</a:t>
            </a:r>
          </a:p>
        </p:txBody>
      </p:sp>
      <p:sp>
        <p:nvSpPr>
          <p:cNvPr id="16" name="">
            <a:extLst xmlns:a="http://schemas.openxmlformats.org/drawingml/2006/main">
              <a:ext uri="{FF2B5EF4-FFF2-40B4-BE49-F238E27FC236}">
                <a16:creationId xmlns:a16="http://schemas.microsoft.com/office/drawing/2014/main" id="{143073A4-F747-4108-903B-536178364C07}"/>
              </a:ext>
            </a:extLst>
          </p:cNvPr>
          <p:cNvSpPr>
            <a:spLocks xmlns:a="http://schemas.openxmlformats.org/drawingml/2006/main" noGrp="1"/>
          </p:cNvSpPr>
          <p:nvPr/>
        </p:nvSpPr>
        <p:spPr>
          <a:xfrm xmlns:a="http://schemas.openxmlformats.org/drawingml/2006/main">
            <a:off x="8886825" y="4000500"/>
            <a:ext cx="752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50" b="0">
                <a:solidFill>
                  <a:srgbClr val="356AA5"/>
                </a:solidFill>
                <a:latin typeface="Arial"/>
                <a:ea typeface="Arial"/>
                <a:cs typeface="Arial"/>
              </a:defRPr>
            </a:defPPr>
            <a:lvl1pPr algn="ctr">
              <a:defRPr sz="1350" b="0">
                <a:solidFill>
                  <a:srgbClr val="356AA5"/>
                </a:solidFill>
                <a:latin typeface="Arial"/>
                <a:ea typeface="Arial"/>
                <a:cs typeface="Arial"/>
              </a:defRPr>
            </a:lvl1pPr>
            <a:lvl2pPr algn="ctr">
              <a:defRPr sz="1350" b="0">
                <a:solidFill>
                  <a:srgbClr val="356AA5"/>
                </a:solidFill>
                <a:latin typeface="Arial"/>
                <a:ea typeface="Arial"/>
                <a:cs typeface="Arial"/>
              </a:defRPr>
            </a:lvl2pPr>
            <a:lvl3pPr algn="ctr">
              <a:defRPr sz="1350" b="0">
                <a:solidFill>
                  <a:srgbClr val="356AA5"/>
                </a:solidFill>
                <a:latin typeface="Arial"/>
                <a:ea typeface="Arial"/>
                <a:cs typeface="Arial"/>
              </a:defRPr>
            </a:lvl3pPr>
            <a:lvl4pPr algn="ctr">
              <a:defRPr sz="1350" b="0">
                <a:solidFill>
                  <a:srgbClr val="356AA5"/>
                </a:solidFill>
                <a:latin typeface="Arial"/>
                <a:ea typeface="Arial"/>
                <a:cs typeface="Arial"/>
              </a:defRPr>
            </a:lvl4pPr>
            <a:lvl5pPr algn="ctr">
              <a:defRPr sz="1350" b="0">
                <a:solidFill>
                  <a:srgbClr val="356AA5"/>
                </a:solidFill>
                <a:latin typeface="Arial"/>
                <a:ea typeface="Arial"/>
                <a:cs typeface="Arial"/>
              </a:defRPr>
            </a:lvl5pPr>
            <a:lvl6pPr algn="ctr">
              <a:defRPr sz="1350" b="0">
                <a:solidFill>
                  <a:srgbClr val="356AA5"/>
                </a:solidFill>
                <a:latin typeface="Arial"/>
                <a:ea typeface="Arial"/>
                <a:cs typeface="Arial"/>
              </a:defRPr>
            </a:lvl6pPr>
            <a:lvl7pPr algn="ctr">
              <a:defRPr sz="1350" b="0">
                <a:solidFill>
                  <a:srgbClr val="356AA5"/>
                </a:solidFill>
                <a:latin typeface="Arial"/>
                <a:ea typeface="Arial"/>
                <a:cs typeface="Arial"/>
              </a:defRPr>
            </a:lvl7pPr>
            <a:lvl8pPr algn="ctr">
              <a:defRPr sz="1350" b="0">
                <a:solidFill>
                  <a:srgbClr val="356AA5"/>
                </a:solidFill>
                <a:latin typeface="Arial"/>
                <a:ea typeface="Arial"/>
                <a:cs typeface="Arial"/>
              </a:defRPr>
            </a:lvl8pPr>
            <a:lvl9pPr algn="ctr">
              <a:defRPr sz="1350" b="0">
                <a:solidFill>
                  <a:srgbClr val="356AA5"/>
                </a:solidFill>
                <a:latin typeface="Arial"/>
                <a:ea typeface="Arial"/>
                <a:cs typeface="Arial"/>
              </a:defRPr>
            </a:lvl9pPr>
          </a:lstStyle>
          <a:p xmlns:a="http://schemas.openxmlformats.org/drawingml/2006/main">
            <a:pPr algn="ctr">
              <a:defRPr sz="1350" b="0">
                <a:solidFill>
                  <a:srgbClr val="356AA5"/>
                </a:solidFill>
                <a:latin typeface="Arial"/>
                <a:ea typeface="Arial"/>
                <a:cs typeface="Arial"/>
              </a:defRPr>
            </a:pPr>
            <a:r>
              <a:rPr sz="1350" b="0">
                <a:solidFill>
                  <a:srgbClr val="356AA5"/>
                </a:solidFill>
                <a:latin typeface="Arial"/>
                <a:ea typeface="Arial"/>
                <a:cs typeface="Arial"/>
              </a:rPr>
              <a:t>Upload</a:t>
            </a:r>
          </a:p>
        </p:txBody>
      </p:sp>
      <p:sp>
        <p:nvSpPr>
          <p:cNvPr id="17" name="">
            <a:extLst xmlns:a="http://schemas.openxmlformats.org/drawingml/2006/main">
              <a:ext uri="{FF2B5EF4-FFF2-40B4-BE49-F238E27FC236}">
                <a16:creationId xmlns:a16="http://schemas.microsoft.com/office/drawing/2014/main" id="{45A29A8F-B57D-4A65-B266-B000FAA433F0}"/>
              </a:ext>
            </a:extLst>
          </p:cNvPr>
          <p:cNvSpPr>
            <a:spLocks xmlns:a="http://schemas.openxmlformats.org/drawingml/2006/main" noGrp="1"/>
          </p:cNvSpPr>
          <p:nvPr/>
        </p:nvSpPr>
        <p:spPr>
          <a:xfrm xmlns:a="http://schemas.openxmlformats.org/drawingml/2006/main">
            <a:off x="685800" y="4352925"/>
            <a:ext cx="107632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0">
                <a:solidFill>
                  <a:srgbClr val="152D3A"/>
                </a:solidFill>
                <a:latin typeface="Arial"/>
                <a:ea typeface="Arial"/>
                <a:cs typeface="Arial"/>
              </a:defRPr>
            </a:defPPr>
            <a:lvl1pPr algn="l">
              <a:defRPr sz="1875" b="0">
                <a:solidFill>
                  <a:srgbClr val="152D3A"/>
                </a:solidFill>
                <a:latin typeface="Arial"/>
                <a:ea typeface="Arial"/>
                <a:cs typeface="Arial"/>
              </a:defRPr>
            </a:lvl1pPr>
            <a:lvl2pPr algn="l">
              <a:defRPr sz="1875" b="0">
                <a:solidFill>
                  <a:srgbClr val="152D3A"/>
                </a:solidFill>
                <a:latin typeface="Arial"/>
                <a:ea typeface="Arial"/>
                <a:cs typeface="Arial"/>
              </a:defRPr>
            </a:lvl2pPr>
            <a:lvl3pPr algn="l">
              <a:defRPr sz="1875" b="0">
                <a:solidFill>
                  <a:srgbClr val="152D3A"/>
                </a:solidFill>
                <a:latin typeface="Arial"/>
                <a:ea typeface="Arial"/>
                <a:cs typeface="Arial"/>
              </a:defRPr>
            </a:lvl3pPr>
            <a:lvl4pPr algn="l">
              <a:defRPr sz="1875" b="0">
                <a:solidFill>
                  <a:srgbClr val="152D3A"/>
                </a:solidFill>
                <a:latin typeface="Arial"/>
                <a:ea typeface="Arial"/>
                <a:cs typeface="Arial"/>
              </a:defRPr>
            </a:lvl4pPr>
            <a:lvl5pPr algn="l">
              <a:defRPr sz="1875" b="0">
                <a:solidFill>
                  <a:srgbClr val="152D3A"/>
                </a:solidFill>
                <a:latin typeface="Arial"/>
                <a:ea typeface="Arial"/>
                <a:cs typeface="Arial"/>
              </a:defRPr>
            </a:lvl5pPr>
            <a:lvl6pPr algn="l">
              <a:defRPr sz="1875" b="0">
                <a:solidFill>
                  <a:srgbClr val="152D3A"/>
                </a:solidFill>
                <a:latin typeface="Arial"/>
                <a:ea typeface="Arial"/>
                <a:cs typeface="Arial"/>
              </a:defRPr>
            </a:lvl6pPr>
            <a:lvl7pPr algn="l">
              <a:defRPr sz="1875" b="0">
                <a:solidFill>
                  <a:srgbClr val="152D3A"/>
                </a:solidFill>
                <a:latin typeface="Arial"/>
                <a:ea typeface="Arial"/>
                <a:cs typeface="Arial"/>
              </a:defRPr>
            </a:lvl7pPr>
            <a:lvl8pPr algn="l">
              <a:defRPr sz="1875" b="0">
                <a:solidFill>
                  <a:srgbClr val="152D3A"/>
                </a:solidFill>
                <a:latin typeface="Arial"/>
                <a:ea typeface="Arial"/>
                <a:cs typeface="Arial"/>
              </a:defRPr>
            </a:lvl8pPr>
            <a:lvl9pPr algn="l">
              <a:defRPr sz="1875" b="0">
                <a:solidFill>
                  <a:srgbClr val="152D3A"/>
                </a:solidFill>
                <a:latin typeface="Arial"/>
                <a:ea typeface="Arial"/>
                <a:cs typeface="Arial"/>
              </a:defRPr>
            </a:lvl9pPr>
          </a:lstStyle>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The local database build can seed either cloud workflow.</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Transfer a pg_dump backup plus the application code and Docker files.</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Restore the backup into cloud PostGIS; keep its live volume persistent.</a:t>
            </a:r>
          </a:p>
          <a:p xmlns:a="http://schemas.openxmlformats.org/drawingml/2006/main">
            <a:pPr marL="228600" indent="-114300" algn="l">
              <a:spcAft>
                <a:spcPts val="900"/>
              </a:spcAft>
              <a:buChar char="•"/>
              <a:defRPr sz="1875" b="0">
                <a:solidFill>
                  <a:srgbClr val="152D3A"/>
                </a:solidFill>
                <a:latin typeface="Arial"/>
                <a:ea typeface="Arial"/>
                <a:cs typeface="Arial"/>
              </a:defRPr>
            </a:pPr>
            <a:r>
              <a:rPr sz="1875">
                <a:solidFill>
                  <a:srgbClr val="152D3A"/>
                </a:solidFill>
                <a:latin typeface="Arial"/>
                <a:ea typeface="Arial"/>
                <a:cs typeface="Arial"/>
              </a:rPr>
              <a:t>Socrata refresh remains experimental and unscheduled.</a:t>
            </a:r>
          </a:p>
        </p:txBody>
      </p:sp>
      <p:sp>
        <p:nvSpPr>
          <p:cNvPr id="18" name="">
            <a:extLst xmlns:a="http://schemas.openxmlformats.org/drawingml/2006/main">
              <a:ext uri="{FF2B5EF4-FFF2-40B4-BE49-F238E27FC236}">
                <a16:creationId xmlns:a16="http://schemas.microsoft.com/office/drawing/2014/main" id="{B2F52647-959B-46E4-818F-8CAD4128DD8B}"/>
              </a:ext>
            </a:extLst>
          </p:cNvPr>
          <p:cNvSpPr>
            <a:spLocks xmlns:a="http://schemas.openxmlformats.org/drawingml/2006/main" noGrp="1"/>
          </p:cNvSpPr>
          <p:nvPr/>
        </p:nvSpPr>
        <p:spPr>
          <a:xfrm xmlns:a="http://schemas.openxmlformats.org/drawingml/2006/main">
            <a:off x="685800" y="6391275"/>
            <a:ext cx="10810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536673"/>
                </a:solidFill>
                <a:latin typeface="Arial"/>
                <a:ea typeface="Arial"/>
                <a:cs typeface="Arial"/>
              </a:defRPr>
            </a:defPPr>
            <a:lvl1pPr algn="l">
              <a:defRPr sz="1500" b="0">
                <a:solidFill>
                  <a:srgbClr val="536673"/>
                </a:solidFill>
                <a:latin typeface="Arial"/>
                <a:ea typeface="Arial"/>
                <a:cs typeface="Arial"/>
              </a:defRPr>
            </a:lvl1pPr>
            <a:lvl2pPr algn="l">
              <a:defRPr sz="1500" b="0">
                <a:solidFill>
                  <a:srgbClr val="536673"/>
                </a:solidFill>
                <a:latin typeface="Arial"/>
                <a:ea typeface="Arial"/>
                <a:cs typeface="Arial"/>
              </a:defRPr>
            </a:lvl2pPr>
            <a:lvl3pPr algn="l">
              <a:defRPr sz="1500" b="0">
                <a:solidFill>
                  <a:srgbClr val="536673"/>
                </a:solidFill>
                <a:latin typeface="Arial"/>
                <a:ea typeface="Arial"/>
                <a:cs typeface="Arial"/>
              </a:defRPr>
            </a:lvl3pPr>
            <a:lvl4pPr algn="l">
              <a:defRPr sz="1500" b="0">
                <a:solidFill>
                  <a:srgbClr val="536673"/>
                </a:solidFill>
                <a:latin typeface="Arial"/>
                <a:ea typeface="Arial"/>
                <a:cs typeface="Arial"/>
              </a:defRPr>
            </a:lvl4pPr>
            <a:lvl5pPr algn="l">
              <a:defRPr sz="1500" b="0">
                <a:solidFill>
                  <a:srgbClr val="536673"/>
                </a:solidFill>
                <a:latin typeface="Arial"/>
                <a:ea typeface="Arial"/>
                <a:cs typeface="Arial"/>
              </a:defRPr>
            </a:lvl5pPr>
            <a:lvl6pPr algn="l">
              <a:defRPr sz="1500" b="0">
                <a:solidFill>
                  <a:srgbClr val="536673"/>
                </a:solidFill>
                <a:latin typeface="Arial"/>
                <a:ea typeface="Arial"/>
                <a:cs typeface="Arial"/>
              </a:defRPr>
            </a:lvl6pPr>
            <a:lvl7pPr algn="l">
              <a:defRPr sz="1500" b="0">
                <a:solidFill>
                  <a:srgbClr val="536673"/>
                </a:solidFill>
                <a:latin typeface="Arial"/>
                <a:ea typeface="Arial"/>
                <a:cs typeface="Arial"/>
              </a:defRPr>
            </a:lvl7pPr>
            <a:lvl8pPr algn="l">
              <a:defRPr sz="1500" b="0">
                <a:solidFill>
                  <a:srgbClr val="536673"/>
                </a:solidFill>
                <a:latin typeface="Arial"/>
                <a:ea typeface="Arial"/>
                <a:cs typeface="Arial"/>
              </a:defRPr>
            </a:lvl8pPr>
            <a:lvl9pPr algn="l">
              <a:defRPr sz="1500" b="0">
                <a:solidFill>
                  <a:srgbClr val="536673"/>
                </a:solidFill>
                <a:latin typeface="Arial"/>
                <a:ea typeface="Arial"/>
                <a:cs typeface="Arial"/>
              </a:defRPr>
            </a:lvl9pPr>
          </a:lstStyle>
          <a:p xmlns:a="http://schemas.openxmlformats.org/drawingml/2006/main">
            <a:pPr algn="l">
              <a:defRPr sz="1500" b="0">
                <a:solidFill>
                  <a:srgbClr val="536673"/>
                </a:solidFill>
                <a:latin typeface="Arial"/>
                <a:ea typeface="Arial"/>
                <a:cs typeface="Arial"/>
              </a:defRPr>
            </a:pPr>
            <a:r>
              <a:rPr sz="1500" b="0">
                <a:solidFill>
                  <a:srgbClr val="536673"/>
                </a:solidFill>
                <a:latin typeface="Arial"/>
                <a:ea typeface="Arial"/>
                <a:cs typeface="Arial"/>
              </a:rPr>
              <a:t>Local sample loading works. Full import, cloud restore, and ongoing refresh remain separate milestones.</a:t>
            </a:r>
          </a:p>
        </p:txBody>
      </p:sp>
    </p:spTree>
    <p:extLst>
      <p:ext uri="{BB962C8B-B14F-4D97-AF65-F5344CB8AC3E}">
        <p14:creationId xmlns:p14="http://schemas.microsoft.com/office/powerpoint/2010/main" val="3364056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2026-10-19T20:23:35.1100000Z</dcterms:created>
  <dcterms:modified xsi:type="dcterms:W3CDTF">2026-10-19T20:23:35.1100000Z</dcterms:modified>
</coreProperties>
</file>